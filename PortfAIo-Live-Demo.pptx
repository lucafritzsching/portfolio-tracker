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PortfAIo ist ein Portfolio-Tracker, der aus privatem Interesse am Investieren entstanden ist — mit einem KI-Agenten als Herzstück. Kernbotschaft: Der Agent ENTSCHEIDET zuerst selbst den Weg, ruft dann die passenden Werkzeuge auf und arbeitet entweder mit klaren Rechenwegen (reproduzierbare Mathematik) oder gibt über vorgefilterte Daten ein eigenes, belegtes Urteil ab. Alles läuft lokal — keine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Ein reines LLM ist überzeugend, aber nicht reproduzierbar und erfindet Zahlen. Unsere Antwort ist ein Agent mit Leitplanken: Die KI entscheidet den Weg, rechnet aber bei Zahlen deterministisch und urteilt nur über vorgefilterte Daten — mit Belegpflicht. Die Leitfrage ist die Balance: Wie viel Autonomie für die KI, wie viel klare Rechnung?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bewusst sauber experimentiert: gleiche Basis, nur EIN variierter Faktor — der Ziel-Typ. Team A: Data-Science-Ziel (Ensemble entscheidet). Team B: Natural-Language-Ziel (LLM beurteilt Freitext). Zuletzt in einen Router-Agenten konsolidiert und mit Backtesting abgesichert. 51 Commits, 3 Beitragende, April–Juni.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Architektur in einem Bild: Browser (Vue) spricht mit dem Backend (FastAPI), das wiederum Datenbank, das lokale LLM (Ollama) und die Marktdaten-Quellen anbindet. Wichtigster Satz: Die KI sitzt an genau einer Stelle. Alles andere ist deterministischer Code. Und: alles läuft lokal.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arbeitet der Agent. Die Frage kommt in Klarsprache. Die KI versteht sie und entscheidet SELBST den Weg. Dann zwei Modi: Blau = klare Rechenwege (Unternehmen finden, rechnen/prognostizieren) — reproduzierbare Mathematik. Gelb = die KI gibt ein eigenes Urteil ab, aber nur über vorher gefilterte Daten und mit Belegpflicht (sie muss echte Schlagzeilen zitieren). Am Ende fasst sie zusammen — jeder Zwischenschritt ist im Chat sichtbar. Kernsatz: Die KI darf urteilen, aber die Zahlen kommen aus klarer Rechnung.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der Agent konkret kann — vier Fähigkeiten. Oben in Klartext, wie er arbeitet: Frage verstehen, Werkzeug wählen, ausführen, Ergebnis prüfen, zusammenfassen — in mehreren Schritten, jeder im Chat sichtbar. Die vier Fähigkeiten: Unternehmen finden (klarer Filter), News verstehen &amp; bewerten (KI urteilt über vorgefilterte Schlagzeilen, mit Belegpflicht), Rechnen &amp; prognostizieren (nachvollziehbare Mathematik) und Daten beschaffen (die Grundlage). Farbe: Blau = klare Rechnung, Gelb = KI-Urteil, Grau = reine Daten. Die KI macht das, was sie gut kann — verstehen und einordnen; die Werkzeuge liefern die belastbaren Fakten.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Stärken zuerst (in Outcome-Sprache): klare Rechenwege/reproduzierbar, ehrlich statt schöngerechnet, Urteile nur mit Belegen, lokal &amp; privat. Dann offen die Grenzen: die lokale KI hält Mehrschritt-Anweisungen nicht immer durch — am Screenshot-Beispiel gesehen und bereits abgefangen (ein deterministischer Nachfilter prüft die Treffer, die Anweisung wurde geschärft). Wichtig: Wir behaupten bewusst KEINE Trading-Performance — wir prüfen Urteils-Qualität, nicht Rendite. Mit dem Demo-Satz schließen und live zeigen. (Mess-Zahlen wie 89% vs. 78% bei Bedarf aus dem Karteikarten-Manifest.)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B"/>
        </a:solidFill>
      </p:bgPr>
    </p:bg>
    <p:spTree>
      <p:nvGrpSpPr>
        <p:cNvPr id="1" name=""/>
        <p:cNvGrpSpPr/>
        <p:nvPr/>
      </p:nvGrpSpPr>
      <p:grpSpPr>
        <a:xfrm>
          <a:off x="0" y="0"/>
          <a:ext cx="0" cy="0"/>
          <a:chOff x="0" y="0"/>
          <a:chExt cx="0" cy="0"/>
        </a:xfrm>
      </p:grpSpPr>
      <p:sp>
        <p:nvSpPr>
          <p:cNvPr id="2" name="Shape 0"/>
          <p:cNvSpPr/>
          <p:nvPr/>
        </p:nvSpPr>
        <p:spPr>
          <a:xfrm>
            <a:off x="1078992" y="1124712"/>
            <a:ext cx="932688" cy="384048"/>
          </a:xfrm>
          <a:prstGeom prst="line">
            <a:avLst/>
          </a:prstGeom>
          <a:noFill/>
          <a:ln w="19050">
            <a:solidFill>
              <a:srgbClr val="33566B"/>
            </a:solidFill>
            <a:prstDash val="solid"/>
          </a:ln>
        </p:spPr>
      </p:sp>
      <p:sp>
        <p:nvSpPr>
          <p:cNvPr id="3" name="Shape 1"/>
          <p:cNvSpPr/>
          <p:nvPr/>
        </p:nvSpPr>
        <p:spPr>
          <a:xfrm>
            <a:off x="2084832" y="1508760"/>
            <a:ext cx="932688" cy="-384048"/>
          </a:xfrm>
          <a:prstGeom prst="line">
            <a:avLst/>
          </a:prstGeom>
          <a:noFill/>
          <a:ln w="19050">
            <a:solidFill>
              <a:srgbClr val="33566B"/>
            </a:solidFill>
            <a:prstDash val="solid"/>
          </a:ln>
        </p:spPr>
      </p:sp>
      <p:sp>
        <p:nvSpPr>
          <p:cNvPr id="4" name="Shape 2"/>
          <p:cNvSpPr/>
          <p:nvPr/>
        </p:nvSpPr>
        <p:spPr>
          <a:xfrm>
            <a:off x="3090672" y="1124712"/>
            <a:ext cx="932688" cy="384048"/>
          </a:xfrm>
          <a:prstGeom prst="line">
            <a:avLst/>
          </a:prstGeom>
          <a:noFill/>
          <a:ln w="19050">
            <a:solidFill>
              <a:srgbClr val="33566B"/>
            </a:solidFill>
            <a:prstDash val="solid"/>
          </a:ln>
        </p:spPr>
      </p:sp>
      <p:sp>
        <p:nvSpPr>
          <p:cNvPr id="5" name="Shape 3"/>
          <p:cNvSpPr/>
          <p:nvPr/>
        </p:nvSpPr>
        <p:spPr>
          <a:xfrm>
            <a:off x="960120" y="960120"/>
            <a:ext cx="237744" cy="237744"/>
          </a:xfrm>
          <a:prstGeom prst="ellipse">
            <a:avLst/>
          </a:prstGeom>
          <a:solidFill>
            <a:srgbClr val="2EC4B6"/>
          </a:solidFill>
          <a:ln/>
        </p:spPr>
      </p:sp>
      <p:sp>
        <p:nvSpPr>
          <p:cNvPr id="6" name="Shape 4"/>
          <p:cNvSpPr/>
          <p:nvPr/>
        </p:nvSpPr>
        <p:spPr>
          <a:xfrm>
            <a:off x="1965960" y="1344168"/>
            <a:ext cx="237744" cy="237744"/>
          </a:xfrm>
          <a:prstGeom prst="ellipse">
            <a:avLst/>
          </a:prstGeom>
          <a:solidFill>
            <a:srgbClr val="1C7293"/>
          </a:solidFill>
          <a:ln/>
        </p:spPr>
      </p:sp>
      <p:sp>
        <p:nvSpPr>
          <p:cNvPr id="7" name="Shape 5"/>
          <p:cNvSpPr/>
          <p:nvPr/>
        </p:nvSpPr>
        <p:spPr>
          <a:xfrm>
            <a:off x="2971800" y="960120"/>
            <a:ext cx="237744" cy="237744"/>
          </a:xfrm>
          <a:prstGeom prst="ellipse">
            <a:avLst/>
          </a:prstGeom>
          <a:solidFill>
            <a:srgbClr val="2F6DB5"/>
          </a:solidFill>
          <a:ln/>
        </p:spPr>
      </p:sp>
      <p:sp>
        <p:nvSpPr>
          <p:cNvPr id="8" name="Shape 6"/>
          <p:cNvSpPr/>
          <p:nvPr/>
        </p:nvSpPr>
        <p:spPr>
          <a:xfrm>
            <a:off x="3977640" y="1344168"/>
            <a:ext cx="237744" cy="237744"/>
          </a:xfrm>
          <a:prstGeom prst="ellipse">
            <a:avLst/>
          </a:prstGeom>
          <a:solidFill>
            <a:srgbClr val="D9982B"/>
          </a:solidFill>
          <a:ln/>
        </p:spPr>
      </p:sp>
      <p:sp>
        <p:nvSpPr>
          <p:cNvPr id="9" name="Text 7"/>
          <p:cNvSpPr/>
          <p:nvPr/>
        </p:nvSpPr>
        <p:spPr>
          <a:xfrm>
            <a:off x="868680" y="2057400"/>
            <a:ext cx="10058400" cy="1097280"/>
          </a:xfrm>
          <a:prstGeom prst="rect">
            <a:avLst/>
          </a:prstGeom>
          <a:noFill/>
          <a:ln/>
        </p:spPr>
        <p:txBody>
          <a:bodyPr wrap="square" lIns="0" tIns="0" rIns="0" bIns="0" rtlCol="0" anchor="t"/>
          <a:lstStyle/>
          <a:p>
            <a:pPr indent="0" marL="0">
              <a:buNone/>
            </a:pPr>
            <a:r>
              <a:rPr lang="en-US" sz="6600" b="1" dirty="0">
                <a:solidFill>
                  <a:srgbClr val="FFFFFF"/>
                </a:solidFill>
                <a:latin typeface="Cambria" pitchFamily="34" charset="0"/>
                <a:ea typeface="Cambria" pitchFamily="34" charset="-122"/>
                <a:cs typeface="Cambria" pitchFamily="34" charset="-120"/>
              </a:rPr>
              <a:t>PortfAIo</a:t>
            </a:r>
            <a:endParaRPr lang="en-US" sz="6600" dirty="0"/>
          </a:p>
        </p:txBody>
      </p:sp>
      <p:sp>
        <p:nvSpPr>
          <p:cNvPr id="10" name="Text 8"/>
          <p:cNvSpPr/>
          <p:nvPr/>
        </p:nvSpPr>
        <p:spPr>
          <a:xfrm>
            <a:off x="914400" y="3200400"/>
            <a:ext cx="10058400" cy="548640"/>
          </a:xfrm>
          <a:prstGeom prst="rect">
            <a:avLst/>
          </a:prstGeom>
          <a:noFill/>
          <a:ln/>
        </p:spPr>
        <p:txBody>
          <a:bodyPr wrap="square" lIns="0" tIns="0" rIns="0" bIns="0" rtlCol="0" anchor="t"/>
          <a:lstStyle/>
          <a:p>
            <a:pPr indent="0" marL="0">
              <a:buNone/>
            </a:pPr>
            <a:r>
              <a:rPr lang="en-US" sz="2500" dirty="0">
                <a:solidFill>
                  <a:srgbClr val="2EC4B6"/>
                </a:solidFill>
                <a:latin typeface="Cambria" pitchFamily="34" charset="0"/>
                <a:ea typeface="Cambria" pitchFamily="34" charset="-122"/>
                <a:cs typeface="Cambria" pitchFamily="34" charset="-120"/>
              </a:rPr>
              <a:t>Ein KI-Agent in einem Portfolio-Tracker</a:t>
            </a:r>
            <a:endParaRPr lang="en-US" sz="2500" dirty="0"/>
          </a:p>
        </p:txBody>
      </p:sp>
      <p:sp>
        <p:nvSpPr>
          <p:cNvPr id="11" name="Text 9"/>
          <p:cNvSpPr/>
          <p:nvPr/>
        </p:nvSpPr>
        <p:spPr>
          <a:xfrm>
            <a:off x="914400" y="3803904"/>
            <a:ext cx="10058400" cy="411480"/>
          </a:xfrm>
          <a:prstGeom prst="rect">
            <a:avLst/>
          </a:prstGeom>
          <a:noFill/>
          <a:ln/>
        </p:spPr>
        <p:txBody>
          <a:bodyPr wrap="square" lIns="0" tIns="0" rIns="0" bIns="0" rtlCol="0" anchor="t"/>
          <a:lstStyle/>
          <a:p>
            <a:pPr indent="0" marL="0">
              <a:buNone/>
            </a:pPr>
            <a:r>
              <a:rPr lang="en-US" sz="1600" i="1" dirty="0">
                <a:solidFill>
                  <a:srgbClr val="9DB6C4"/>
                </a:solidFill>
                <a:latin typeface="Cambria" pitchFamily="34" charset="0"/>
                <a:ea typeface="Cambria" pitchFamily="34" charset="-122"/>
                <a:cs typeface="Cambria" pitchFamily="34" charset="-120"/>
              </a:rPr>
              <a:t>Aus privatem Interesse am Investieren entstanden</a:t>
            </a:r>
            <a:endParaRPr lang="en-US" sz="1600" dirty="0"/>
          </a:p>
        </p:txBody>
      </p:sp>
      <p:sp>
        <p:nvSpPr>
          <p:cNvPr id="12" name="Shape 10"/>
          <p:cNvSpPr/>
          <p:nvPr/>
        </p:nvSpPr>
        <p:spPr>
          <a:xfrm>
            <a:off x="914400" y="4334256"/>
            <a:ext cx="8869680" cy="603504"/>
          </a:xfrm>
          <a:prstGeom prst="roundRect">
            <a:avLst>
              <a:gd name="adj" fmla="val 37879"/>
            </a:avLst>
          </a:prstGeom>
          <a:solidFill>
            <a:srgbClr val="16384C"/>
          </a:solidFill>
          <a:ln/>
        </p:spPr>
      </p:sp>
      <p:sp>
        <p:nvSpPr>
          <p:cNvPr id="13" name="Text 11"/>
          <p:cNvSpPr/>
          <p:nvPr/>
        </p:nvSpPr>
        <p:spPr>
          <a:xfrm>
            <a:off x="1170432" y="4334256"/>
            <a:ext cx="8412480" cy="603504"/>
          </a:xfrm>
          <a:prstGeom prst="rect">
            <a:avLst/>
          </a:prstGeom>
          <a:noFill/>
          <a:ln/>
        </p:spPr>
        <p:txBody>
          <a:bodyPr wrap="square" lIns="0" tIns="0" rIns="0" bIns="0" rtlCol="0" anchor="ctr"/>
          <a:lstStyle/>
          <a:p>
            <a:pPr indent="0" marL="0">
              <a:buNone/>
            </a:pPr>
            <a:r>
              <a:rPr lang="en-US" sz="1600" dirty="0">
                <a:solidFill>
                  <a:srgbClr val="EAF2F7"/>
                </a:solidFill>
                <a:latin typeface="Calibri" pitchFamily="34" charset="0"/>
                <a:ea typeface="Calibri" pitchFamily="34" charset="-122"/>
                <a:cs typeface="Calibri" pitchFamily="34" charset="-120"/>
              </a:rPr>
              <a:t>Der Agent </a:t>
            </a:r>
            <a:pPr indent="0" marL="0">
              <a:buNone/>
            </a:pPr>
            <a:r>
              <a:rPr lang="en-US" sz="1600" b="1" dirty="0">
                <a:solidFill>
                  <a:srgbClr val="2EC4B6"/>
                </a:solidFill>
                <a:latin typeface="Calibri" pitchFamily="34" charset="0"/>
                <a:ea typeface="Calibri" pitchFamily="34" charset="-122"/>
                <a:cs typeface="Calibri" pitchFamily="34" charset="-120"/>
              </a:rPr>
              <a:t>entscheidet</a:t>
            </a:r>
            <a:pPr indent="0" marL="0">
              <a:buNone/>
            </a:pPr>
            <a:r>
              <a:rPr lang="en-US" sz="1600" dirty="0">
                <a:solidFill>
                  <a:srgbClr val="EAF2F7"/>
                </a:solidFill>
                <a:latin typeface="Calibri" pitchFamily="34" charset="0"/>
                <a:ea typeface="Calibri" pitchFamily="34" charset="-122"/>
                <a:cs typeface="Calibri" pitchFamily="34" charset="-120"/>
              </a:rPr>
              <a:t> den Weg — dann </a:t>
            </a:r>
            <a:pPr indent="0" marL="0">
              <a:buNone/>
            </a:pPr>
            <a:r>
              <a:rPr lang="en-US" sz="1600" b="1" dirty="0">
                <a:solidFill>
                  <a:srgbClr val="8FD0E6"/>
                </a:solidFill>
                <a:latin typeface="Calibri" pitchFamily="34" charset="0"/>
                <a:ea typeface="Calibri" pitchFamily="34" charset="-122"/>
                <a:cs typeface="Calibri" pitchFamily="34" charset="-120"/>
              </a:rPr>
              <a:t>klare Rechnung</a:t>
            </a:r>
            <a:pPr indent="0" marL="0">
              <a:buNone/>
            </a:pPr>
            <a:r>
              <a:rPr lang="en-US" sz="1600" dirty="0">
                <a:solidFill>
                  <a:srgbClr val="EAF2F7"/>
                </a:solidFill>
                <a:latin typeface="Calibri" pitchFamily="34" charset="0"/>
                <a:ea typeface="Calibri" pitchFamily="34" charset="-122"/>
                <a:cs typeface="Calibri" pitchFamily="34" charset="-120"/>
              </a:rPr>
              <a:t> oder </a:t>
            </a:r>
            <a:pPr indent="0" marL="0">
              <a:buNone/>
            </a:pPr>
            <a:r>
              <a:rPr lang="en-US" sz="1600" b="1" dirty="0">
                <a:solidFill>
                  <a:srgbClr val="F0C66B"/>
                </a:solidFill>
                <a:latin typeface="Calibri" pitchFamily="34" charset="0"/>
                <a:ea typeface="Calibri" pitchFamily="34" charset="-122"/>
                <a:cs typeface="Calibri" pitchFamily="34" charset="-120"/>
              </a:rPr>
              <a:t>belegtes Urteil</a:t>
            </a:r>
            <a:pPr indent="0" marL="0">
              <a:buNone/>
            </a:pPr>
            <a:r>
              <a:rPr lang="en-US" sz="1600" dirty="0">
                <a:solidFill>
                  <a:srgbClr val="EAF2F7"/>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914400" y="5806440"/>
            <a:ext cx="10058400" cy="365760"/>
          </a:xfrm>
          <a:prstGeom prst="rect">
            <a:avLst/>
          </a:prstGeom>
          <a:noFill/>
          <a:ln/>
        </p:spPr>
        <p:txBody>
          <a:bodyPr wrap="square" lIns="0" tIns="0" rIns="0" bIns="0" rtlCol="0" anchor="t"/>
          <a:lstStyle/>
          <a:p>
            <a:pPr indent="0" marL="0">
              <a:buNone/>
            </a:pPr>
            <a:r>
              <a:rPr lang="en-US" sz="1400" dirty="0">
                <a:solidFill>
                  <a:srgbClr val="9DB6C4"/>
                </a:solidFill>
                <a:latin typeface="Calibri" pitchFamily="34" charset="0"/>
                <a:ea typeface="Calibri" pitchFamily="34" charset="-122"/>
                <a:cs typeface="Calibri" pitchFamily="34" charset="-120"/>
              </a:rPr>
              <a:t>HTW Berlin · Unternehmenssoftware · Live-Demo Juni 2026</a:t>
            </a:r>
            <a:endParaRPr lang="en-US" sz="1400" dirty="0"/>
          </a:p>
        </p:txBody>
      </p:sp>
      <p:sp>
        <p:nvSpPr>
          <p:cNvPr id="15" name="Text 13"/>
          <p:cNvSpPr/>
          <p:nvPr/>
        </p:nvSpPr>
        <p:spPr>
          <a:xfrm>
            <a:off x="914400" y="6172200"/>
            <a:ext cx="10058400" cy="365760"/>
          </a:xfrm>
          <a:prstGeom prst="rect">
            <a:avLst/>
          </a:prstGeom>
          <a:noFill/>
          <a:ln/>
        </p:spPr>
        <p:txBody>
          <a:bodyPr wrap="square" lIns="0" tIns="0" rIns="0" bIns="0" rtlCol="0" anchor="t"/>
          <a:lstStyle/>
          <a:p>
            <a:pPr indent="0" marL="0">
              <a:buNone/>
            </a:pPr>
            <a:r>
              <a:rPr lang="en-US" sz="1400" dirty="0">
                <a:solidFill>
                  <a:srgbClr val="9DB6C4"/>
                </a:solidFill>
                <a:latin typeface="Calibri" pitchFamily="34" charset="0"/>
                <a:ea typeface="Calibri" pitchFamily="34" charset="-122"/>
                <a:cs typeface="Calibri" pitchFamily="34" charset="-120"/>
              </a:rPr>
              <a:t>Luca Fritzsching · Le Anh Minh Bui · Sandro Ngoga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t"/>
          <a:lstStyle/>
          <a:p>
            <a:pPr indent="0" marL="0">
              <a:buNone/>
            </a:pPr>
            <a:r>
              <a:rPr lang="en-US" sz="3400" b="1" dirty="0">
                <a:solidFill>
                  <a:srgbClr val="0E2A3B"/>
                </a:solidFill>
                <a:latin typeface="Cambria" pitchFamily="34" charset="0"/>
                <a:ea typeface="Cambria" pitchFamily="34" charset="-122"/>
                <a:cs typeface="Cambria" pitchFamily="34" charset="-120"/>
              </a:rPr>
              <a:t>Die Idee</a:t>
            </a:r>
            <a:endParaRPr lang="en-US" sz="3400" dirty="0"/>
          </a:p>
        </p:txBody>
      </p:sp>
      <p:sp>
        <p:nvSpPr>
          <p:cNvPr id="3" name="Text 1"/>
          <p:cNvSpPr/>
          <p:nvPr/>
        </p:nvSpPr>
        <p:spPr>
          <a:xfrm>
            <a:off x="566928" y="1078992"/>
            <a:ext cx="10058400" cy="457200"/>
          </a:xfrm>
          <a:prstGeom prst="rect">
            <a:avLst/>
          </a:prstGeom>
          <a:noFill/>
          <a:ln/>
        </p:spPr>
        <p:txBody>
          <a:bodyPr wrap="square" lIns="0" tIns="0" rIns="0" bIns="0" rtlCol="0" anchor="t"/>
          <a:lstStyle/>
          <a:p>
            <a:pPr indent="0" marL="0">
              <a:buNone/>
            </a:pPr>
            <a:r>
              <a:rPr lang="en-US" sz="1800" dirty="0">
                <a:solidFill>
                  <a:srgbClr val="1C7293"/>
                </a:solidFill>
                <a:latin typeface="Cambria" pitchFamily="34" charset="0"/>
                <a:ea typeface="Cambria" pitchFamily="34" charset="-122"/>
                <a:cs typeface="Cambria" pitchFamily="34" charset="-120"/>
              </a:rPr>
              <a:t>Reproduzierbar statt „frag einfach das LLM“</a:t>
            </a:r>
            <a:endParaRPr lang="en-US" sz="1800" dirty="0"/>
          </a:p>
        </p:txBody>
      </p:sp>
      <p:sp>
        <p:nvSpPr>
          <p:cNvPr id="4" name="Shape 2"/>
          <p:cNvSpPr/>
          <p:nvPr/>
        </p:nvSpPr>
        <p:spPr>
          <a:xfrm>
            <a:off x="548640" y="1783080"/>
            <a:ext cx="5440680" cy="2788920"/>
          </a:xfrm>
          <a:prstGeom prst="roundRect">
            <a:avLst>
              <a:gd name="adj" fmla="val 2951"/>
            </a:avLst>
          </a:prstGeom>
          <a:solidFill>
            <a:srgbClr val="F2F6F9"/>
          </a:solidFill>
          <a:ln/>
          <a:effectLst>
            <a:outerShdw sx="100000" sy="100000" kx="0" ky="0" algn="bl" rotWithShape="0" blurRad="114300" dist="38100" dir="2700000">
              <a:srgbClr val="0E2A3B">
                <a:alpha val="13000"/>
              </a:srgbClr>
            </a:outerShdw>
          </a:effectLst>
        </p:spPr>
      </p:sp>
      <p:sp>
        <p:nvSpPr>
          <p:cNvPr id="5" name="Text 3"/>
          <p:cNvSpPr/>
          <p:nvPr/>
        </p:nvSpPr>
        <p:spPr>
          <a:xfrm>
            <a:off x="868680" y="2011680"/>
            <a:ext cx="4846320" cy="457200"/>
          </a:xfrm>
          <a:prstGeom prst="rect">
            <a:avLst/>
          </a:prstGeom>
          <a:noFill/>
          <a:ln/>
        </p:spPr>
        <p:txBody>
          <a:bodyPr wrap="square" lIns="0" tIns="0" rIns="0" bIns="0" rtlCol="0" anchor="t"/>
          <a:lstStyle/>
          <a:p>
            <a:pPr indent="0" marL="0">
              <a:buNone/>
            </a:pPr>
            <a:r>
              <a:rPr lang="en-US" sz="1650" b="1" dirty="0">
                <a:solidFill>
                  <a:srgbClr val="13293D"/>
                </a:solidFill>
                <a:latin typeface="Cambria" pitchFamily="34" charset="0"/>
                <a:ea typeface="Cambria" pitchFamily="34" charset="-122"/>
                <a:cs typeface="Cambria" pitchFamily="34" charset="-120"/>
              </a:rPr>
              <a:t>Reines LLM  (z. B. „ChatGPT, was kaufen?“)</a:t>
            </a:r>
            <a:endParaRPr lang="en-US" sz="1650" dirty="0"/>
          </a:p>
        </p:txBody>
      </p:sp>
      <p:sp>
        <p:nvSpPr>
          <p:cNvPr id="6" name="Shape 4"/>
          <p:cNvSpPr/>
          <p:nvPr/>
        </p:nvSpPr>
        <p:spPr>
          <a:xfrm>
            <a:off x="914400" y="2697480"/>
            <a:ext cx="146304" cy="146304"/>
          </a:xfrm>
          <a:prstGeom prst="ellipse">
            <a:avLst/>
          </a:prstGeom>
          <a:solidFill>
            <a:srgbClr val="C0533F"/>
          </a:solidFill>
          <a:ln/>
        </p:spPr>
      </p:sp>
      <p:sp>
        <p:nvSpPr>
          <p:cNvPr id="7" name="Text 5"/>
          <p:cNvSpPr/>
          <p:nvPr/>
        </p:nvSpPr>
        <p:spPr>
          <a:xfrm>
            <a:off x="1170432" y="2587752"/>
            <a:ext cx="4572000" cy="502920"/>
          </a:xfrm>
          <a:prstGeom prst="rect">
            <a:avLst/>
          </a:prstGeom>
          <a:noFill/>
          <a:ln/>
        </p:spPr>
        <p:txBody>
          <a:bodyPr wrap="square" lIns="0" tIns="0" rIns="0" bIns="0" rtlCol="0" anchor="ctr"/>
          <a:lstStyle/>
          <a:p>
            <a:pPr indent="0" marL="0">
              <a:buNone/>
            </a:pPr>
            <a:r>
              <a:rPr lang="en-US" sz="1450" dirty="0">
                <a:solidFill>
                  <a:srgbClr val="13293D"/>
                </a:solidFill>
                <a:latin typeface="Calibri" pitchFamily="34" charset="0"/>
                <a:ea typeface="Calibri" pitchFamily="34" charset="-122"/>
                <a:cs typeface="Calibri" pitchFamily="34" charset="-120"/>
              </a:rPr>
              <a:t>nicht reproduzierbar — jede Antwort anders</a:t>
            </a:r>
            <a:endParaRPr lang="en-US" sz="1450" dirty="0"/>
          </a:p>
        </p:txBody>
      </p:sp>
      <p:sp>
        <p:nvSpPr>
          <p:cNvPr id="8" name="Shape 6"/>
          <p:cNvSpPr/>
          <p:nvPr/>
        </p:nvSpPr>
        <p:spPr>
          <a:xfrm>
            <a:off x="914400" y="3264408"/>
            <a:ext cx="146304" cy="146304"/>
          </a:xfrm>
          <a:prstGeom prst="ellipse">
            <a:avLst/>
          </a:prstGeom>
          <a:solidFill>
            <a:srgbClr val="C0533F"/>
          </a:solidFill>
          <a:ln/>
        </p:spPr>
      </p:sp>
      <p:sp>
        <p:nvSpPr>
          <p:cNvPr id="9" name="Text 7"/>
          <p:cNvSpPr/>
          <p:nvPr/>
        </p:nvSpPr>
        <p:spPr>
          <a:xfrm>
            <a:off x="1170432" y="3154680"/>
            <a:ext cx="4572000" cy="502920"/>
          </a:xfrm>
          <a:prstGeom prst="rect">
            <a:avLst/>
          </a:prstGeom>
          <a:noFill/>
          <a:ln/>
        </p:spPr>
        <p:txBody>
          <a:bodyPr wrap="square" lIns="0" tIns="0" rIns="0" bIns="0" rtlCol="0" anchor="ctr"/>
          <a:lstStyle/>
          <a:p>
            <a:pPr indent="0" marL="0">
              <a:buNone/>
            </a:pPr>
            <a:r>
              <a:rPr lang="en-US" sz="1450" dirty="0">
                <a:solidFill>
                  <a:srgbClr val="13293D"/>
                </a:solidFill>
                <a:latin typeface="Calibri" pitchFamily="34" charset="0"/>
                <a:ea typeface="Calibri" pitchFamily="34" charset="-122"/>
                <a:cs typeface="Calibri" pitchFamily="34" charset="-120"/>
              </a:rPr>
              <a:t>erfindet Zahlen &amp; Kursziele (Halluzination)</a:t>
            </a:r>
            <a:endParaRPr lang="en-US" sz="1450" dirty="0"/>
          </a:p>
        </p:txBody>
      </p:sp>
      <p:sp>
        <p:nvSpPr>
          <p:cNvPr id="10" name="Shape 8"/>
          <p:cNvSpPr/>
          <p:nvPr/>
        </p:nvSpPr>
        <p:spPr>
          <a:xfrm>
            <a:off x="914400" y="3831336"/>
            <a:ext cx="146304" cy="146304"/>
          </a:xfrm>
          <a:prstGeom prst="ellipse">
            <a:avLst/>
          </a:prstGeom>
          <a:solidFill>
            <a:srgbClr val="C0533F"/>
          </a:solidFill>
          <a:ln/>
        </p:spPr>
      </p:sp>
      <p:sp>
        <p:nvSpPr>
          <p:cNvPr id="11" name="Text 9"/>
          <p:cNvSpPr/>
          <p:nvPr/>
        </p:nvSpPr>
        <p:spPr>
          <a:xfrm>
            <a:off x="1170432" y="3721608"/>
            <a:ext cx="4572000" cy="502920"/>
          </a:xfrm>
          <a:prstGeom prst="rect">
            <a:avLst/>
          </a:prstGeom>
          <a:noFill/>
          <a:ln/>
        </p:spPr>
        <p:txBody>
          <a:bodyPr wrap="square" lIns="0" tIns="0" rIns="0" bIns="0" rtlCol="0" anchor="ctr"/>
          <a:lstStyle/>
          <a:p>
            <a:pPr indent="0" marL="0">
              <a:buNone/>
            </a:pPr>
            <a:r>
              <a:rPr lang="en-US" sz="1450" dirty="0">
                <a:solidFill>
                  <a:srgbClr val="13293D"/>
                </a:solidFill>
                <a:latin typeface="Calibri" pitchFamily="34" charset="0"/>
                <a:ea typeface="Calibri" pitchFamily="34" charset="-122"/>
                <a:cs typeface="Calibri" pitchFamily="34" charset="-120"/>
              </a:rPr>
              <a:t>keine nachprüfbaren Belege</a:t>
            </a:r>
            <a:endParaRPr lang="en-US" sz="1450" dirty="0"/>
          </a:p>
        </p:txBody>
      </p:sp>
      <p:sp>
        <p:nvSpPr>
          <p:cNvPr id="12" name="Shape 10"/>
          <p:cNvSpPr/>
          <p:nvPr/>
        </p:nvSpPr>
        <p:spPr>
          <a:xfrm>
            <a:off x="6199632" y="1783080"/>
            <a:ext cx="5440680" cy="2788920"/>
          </a:xfrm>
          <a:prstGeom prst="roundRect">
            <a:avLst>
              <a:gd name="adj" fmla="val 2951"/>
            </a:avLst>
          </a:prstGeom>
          <a:solidFill>
            <a:srgbClr val="0E2A3B"/>
          </a:solidFill>
          <a:ln/>
          <a:effectLst>
            <a:outerShdw sx="100000" sy="100000" kx="0" ky="0" algn="bl" rotWithShape="0" blurRad="114300" dist="38100" dir="2700000">
              <a:srgbClr val="0E2A3B">
                <a:alpha val="13000"/>
              </a:srgbClr>
            </a:outerShdw>
          </a:effectLst>
        </p:spPr>
      </p:sp>
      <p:sp>
        <p:nvSpPr>
          <p:cNvPr id="13" name="Text 11"/>
          <p:cNvSpPr/>
          <p:nvPr/>
        </p:nvSpPr>
        <p:spPr>
          <a:xfrm>
            <a:off x="6519672" y="2011680"/>
            <a:ext cx="4846320" cy="457200"/>
          </a:xfrm>
          <a:prstGeom prst="rect">
            <a:avLst/>
          </a:prstGeom>
          <a:noFill/>
          <a:ln/>
        </p:spPr>
        <p:txBody>
          <a:bodyPr wrap="square" lIns="0" tIns="0" rIns="0" bIns="0" rtlCol="0" anchor="t"/>
          <a:lstStyle/>
          <a:p>
            <a:pPr indent="0" marL="0">
              <a:buNone/>
            </a:pPr>
            <a:r>
              <a:rPr lang="en-US" sz="1650" b="1" dirty="0">
                <a:solidFill>
                  <a:srgbClr val="FFFFFF"/>
                </a:solidFill>
                <a:latin typeface="Cambria" pitchFamily="34" charset="0"/>
                <a:ea typeface="Cambria" pitchFamily="34" charset="-122"/>
                <a:cs typeface="Cambria" pitchFamily="34" charset="-120"/>
              </a:rPr>
              <a:t>PortfAIo — der Agent</a:t>
            </a:r>
            <a:endParaRPr lang="en-US" sz="1650" dirty="0"/>
          </a:p>
        </p:txBody>
      </p:sp>
      <p:sp>
        <p:nvSpPr>
          <p:cNvPr id="14" name="Shape 12"/>
          <p:cNvSpPr/>
          <p:nvPr/>
        </p:nvSpPr>
        <p:spPr>
          <a:xfrm>
            <a:off x="6565392" y="2697480"/>
            <a:ext cx="146304" cy="146304"/>
          </a:xfrm>
          <a:prstGeom prst="ellipse">
            <a:avLst/>
          </a:prstGeom>
          <a:solidFill>
            <a:srgbClr val="2EC4B6"/>
          </a:solidFill>
          <a:ln/>
        </p:spPr>
      </p:sp>
      <p:sp>
        <p:nvSpPr>
          <p:cNvPr id="15" name="Text 13"/>
          <p:cNvSpPr/>
          <p:nvPr/>
        </p:nvSpPr>
        <p:spPr>
          <a:xfrm>
            <a:off x="6821424" y="2587752"/>
            <a:ext cx="4617720" cy="502920"/>
          </a:xfrm>
          <a:prstGeom prst="rect">
            <a:avLst/>
          </a:prstGeom>
          <a:noFill/>
          <a:ln/>
        </p:spPr>
        <p:txBody>
          <a:bodyPr wrap="square" lIns="0" tIns="0" rIns="0" bIns="0" rtlCol="0" anchor="ctr"/>
          <a:lstStyle/>
          <a:p>
            <a:pPr indent="0" marL="0">
              <a:buNone/>
            </a:pPr>
            <a:r>
              <a:rPr lang="en-US" sz="1450" dirty="0">
                <a:solidFill>
                  <a:srgbClr val="EAF2F7"/>
                </a:solidFill>
                <a:latin typeface="Calibri" pitchFamily="34" charset="0"/>
                <a:ea typeface="Calibri" pitchFamily="34" charset="-122"/>
                <a:cs typeface="Calibri" pitchFamily="34" charset="-120"/>
              </a:rPr>
              <a:t>Die KI entscheidet selbst den Weg</a:t>
            </a:r>
            <a:endParaRPr lang="en-US" sz="1450" dirty="0"/>
          </a:p>
        </p:txBody>
      </p:sp>
      <p:sp>
        <p:nvSpPr>
          <p:cNvPr id="16" name="Shape 14"/>
          <p:cNvSpPr/>
          <p:nvPr/>
        </p:nvSpPr>
        <p:spPr>
          <a:xfrm>
            <a:off x="6565392" y="3264408"/>
            <a:ext cx="146304" cy="146304"/>
          </a:xfrm>
          <a:prstGeom prst="ellipse">
            <a:avLst/>
          </a:prstGeom>
          <a:solidFill>
            <a:srgbClr val="2EC4B6"/>
          </a:solidFill>
          <a:ln/>
        </p:spPr>
      </p:sp>
      <p:sp>
        <p:nvSpPr>
          <p:cNvPr id="17" name="Text 15"/>
          <p:cNvSpPr/>
          <p:nvPr/>
        </p:nvSpPr>
        <p:spPr>
          <a:xfrm>
            <a:off x="6821424" y="3154680"/>
            <a:ext cx="4617720" cy="502920"/>
          </a:xfrm>
          <a:prstGeom prst="rect">
            <a:avLst/>
          </a:prstGeom>
          <a:noFill/>
          <a:ln/>
        </p:spPr>
        <p:txBody>
          <a:bodyPr wrap="square" lIns="0" tIns="0" rIns="0" bIns="0" rtlCol="0" anchor="ctr"/>
          <a:lstStyle/>
          <a:p>
            <a:pPr indent="0" marL="0">
              <a:buNone/>
            </a:pPr>
            <a:r>
              <a:rPr lang="en-US" sz="1450" dirty="0">
                <a:solidFill>
                  <a:srgbClr val="EAF2F7"/>
                </a:solidFill>
                <a:latin typeface="Calibri" pitchFamily="34" charset="0"/>
                <a:ea typeface="Calibri" pitchFamily="34" charset="-122"/>
                <a:cs typeface="Calibri" pitchFamily="34" charset="-120"/>
              </a:rPr>
              <a:t>Klare Rechenwege bei Zahlen — reproduzierbar</a:t>
            </a:r>
            <a:endParaRPr lang="en-US" sz="1450" dirty="0"/>
          </a:p>
        </p:txBody>
      </p:sp>
      <p:sp>
        <p:nvSpPr>
          <p:cNvPr id="18" name="Shape 16"/>
          <p:cNvSpPr/>
          <p:nvPr/>
        </p:nvSpPr>
        <p:spPr>
          <a:xfrm>
            <a:off x="6565392" y="3831336"/>
            <a:ext cx="146304" cy="146304"/>
          </a:xfrm>
          <a:prstGeom prst="ellipse">
            <a:avLst/>
          </a:prstGeom>
          <a:solidFill>
            <a:srgbClr val="2EC4B6"/>
          </a:solidFill>
          <a:ln/>
        </p:spPr>
      </p:sp>
      <p:sp>
        <p:nvSpPr>
          <p:cNvPr id="19" name="Text 17"/>
          <p:cNvSpPr/>
          <p:nvPr/>
        </p:nvSpPr>
        <p:spPr>
          <a:xfrm>
            <a:off x="6821424" y="3721608"/>
            <a:ext cx="4617720" cy="502920"/>
          </a:xfrm>
          <a:prstGeom prst="rect">
            <a:avLst/>
          </a:prstGeom>
          <a:noFill/>
          <a:ln/>
        </p:spPr>
        <p:txBody>
          <a:bodyPr wrap="square" lIns="0" tIns="0" rIns="0" bIns="0" rtlCol="0" anchor="ctr"/>
          <a:lstStyle/>
          <a:p>
            <a:pPr indent="0" marL="0">
              <a:buNone/>
            </a:pPr>
            <a:r>
              <a:rPr lang="en-US" sz="1450" dirty="0">
                <a:solidFill>
                  <a:srgbClr val="EAF2F7"/>
                </a:solidFill>
                <a:latin typeface="Calibri" pitchFamily="34" charset="0"/>
                <a:ea typeface="Calibri" pitchFamily="34" charset="-122"/>
                <a:cs typeface="Calibri" pitchFamily="34" charset="-120"/>
              </a:rPr>
              <a:t>Eigenes Urteil nur über vorgefilterte Daten, mit Belegen</a:t>
            </a:r>
            <a:endParaRPr lang="en-US" sz="1450" dirty="0"/>
          </a:p>
        </p:txBody>
      </p:sp>
      <p:sp>
        <p:nvSpPr>
          <p:cNvPr id="20" name="Shape 18"/>
          <p:cNvSpPr/>
          <p:nvPr/>
        </p:nvSpPr>
        <p:spPr>
          <a:xfrm>
            <a:off x="548640" y="4800600"/>
            <a:ext cx="11091672" cy="1417320"/>
          </a:xfrm>
          <a:prstGeom prst="roundRect">
            <a:avLst>
              <a:gd name="adj" fmla="val 5806"/>
            </a:avLst>
          </a:prstGeom>
          <a:solidFill>
            <a:srgbClr val="E8EFF4"/>
          </a:solidFill>
          <a:ln/>
          <a:effectLst>
            <a:outerShdw sx="100000" sy="100000" kx="0" ky="0" algn="bl" rotWithShape="0" blurRad="114300" dist="38100" dir="2700000">
              <a:srgbClr val="0E2A3B">
                <a:alpha val="13000"/>
              </a:srgbClr>
            </a:outerShdw>
          </a:effectLst>
        </p:spPr>
      </p:sp>
      <p:sp>
        <p:nvSpPr>
          <p:cNvPr id="21" name="Text 19"/>
          <p:cNvSpPr/>
          <p:nvPr/>
        </p:nvSpPr>
        <p:spPr>
          <a:xfrm>
            <a:off x="868680" y="5029200"/>
            <a:ext cx="10515600" cy="365760"/>
          </a:xfrm>
          <a:prstGeom prst="rect">
            <a:avLst/>
          </a:prstGeom>
          <a:noFill/>
          <a:ln/>
        </p:spPr>
        <p:txBody>
          <a:bodyPr wrap="square" lIns="0" tIns="0" rIns="0" bIns="0" rtlCol="0" anchor="t"/>
          <a:lstStyle/>
          <a:p>
            <a:pPr indent="0" marL="0">
              <a:buNone/>
            </a:pPr>
            <a:r>
              <a:rPr lang="en-US" sz="1300" b="1" spc="200" kern="0" dirty="0">
                <a:solidFill>
                  <a:srgbClr val="1C7293"/>
                </a:solidFill>
                <a:latin typeface="Cambria" pitchFamily="34" charset="0"/>
                <a:ea typeface="Cambria" pitchFamily="34" charset="-122"/>
                <a:cs typeface="Cambria" pitchFamily="34" charset="-120"/>
              </a:rPr>
              <a:t>LEITFRAGE</a:t>
            </a:r>
            <a:endParaRPr lang="en-US" sz="1300" dirty="0"/>
          </a:p>
        </p:txBody>
      </p:sp>
      <p:sp>
        <p:nvSpPr>
          <p:cNvPr id="22" name="Text 20"/>
          <p:cNvSpPr/>
          <p:nvPr/>
        </p:nvSpPr>
        <p:spPr>
          <a:xfrm>
            <a:off x="868680" y="5394960"/>
            <a:ext cx="10515600" cy="685800"/>
          </a:xfrm>
          <a:prstGeom prst="rect">
            <a:avLst/>
          </a:prstGeom>
          <a:noFill/>
          <a:ln/>
        </p:spPr>
        <p:txBody>
          <a:bodyPr wrap="square" lIns="0" tIns="0" rIns="0" bIns="0" rtlCol="0" anchor="ctr"/>
          <a:lstStyle/>
          <a:p>
            <a:pPr indent="0" marL="0">
              <a:buNone/>
            </a:pPr>
            <a:r>
              <a:rPr lang="en-US" sz="2000" b="1" dirty="0">
                <a:solidFill>
                  <a:srgbClr val="0E2A3B"/>
                </a:solidFill>
                <a:latin typeface="Cambria" pitchFamily="34" charset="0"/>
                <a:ea typeface="Cambria" pitchFamily="34" charset="-122"/>
                <a:cs typeface="Cambria" pitchFamily="34" charset="-120"/>
              </a:rPr>
              <a:t>Wie viel darf die KI selbst entscheiden — und wo geben klare Rechenwege die Sicherheit?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t"/>
          <a:lstStyle/>
          <a:p>
            <a:pPr indent="0" marL="0">
              <a:buNone/>
            </a:pPr>
            <a:r>
              <a:rPr lang="en-US" sz="3400" b="1" dirty="0">
                <a:solidFill>
                  <a:srgbClr val="0E2A3B"/>
                </a:solidFill>
                <a:latin typeface="Cambria" pitchFamily="34" charset="0"/>
                <a:ea typeface="Cambria" pitchFamily="34" charset="-122"/>
                <a:cs typeface="Cambria" pitchFamily="34" charset="-120"/>
              </a:rPr>
              <a:t>Unser Vorgehen</a:t>
            </a:r>
            <a:endParaRPr lang="en-US" sz="3400" dirty="0"/>
          </a:p>
        </p:txBody>
      </p:sp>
      <p:sp>
        <p:nvSpPr>
          <p:cNvPr id="3" name="Text 1"/>
          <p:cNvSpPr/>
          <p:nvPr/>
        </p:nvSpPr>
        <p:spPr>
          <a:xfrm>
            <a:off x="566928" y="1078992"/>
            <a:ext cx="10972800" cy="457200"/>
          </a:xfrm>
          <a:prstGeom prst="rect">
            <a:avLst/>
          </a:prstGeom>
          <a:noFill/>
          <a:ln/>
        </p:spPr>
        <p:txBody>
          <a:bodyPr wrap="square" lIns="0" tIns="0" rIns="0" bIns="0" rtlCol="0" anchor="t"/>
          <a:lstStyle/>
          <a:p>
            <a:pPr indent="0" marL="0">
              <a:buNone/>
            </a:pPr>
            <a:r>
              <a:rPr lang="en-US" sz="1800" dirty="0">
                <a:solidFill>
                  <a:srgbClr val="1C7293"/>
                </a:solidFill>
                <a:latin typeface="Cambria" pitchFamily="34" charset="0"/>
                <a:ea typeface="Cambria" pitchFamily="34" charset="-122"/>
                <a:cs typeface="Cambria" pitchFamily="34" charset="-120"/>
              </a:rPr>
              <a:t>Zwei Teams, eine Codebasis — ein bewusst variierter Faktor: der Ziel-Typ</a:t>
            </a:r>
            <a:endParaRPr lang="en-US" sz="1800" dirty="0"/>
          </a:p>
        </p:txBody>
      </p:sp>
      <p:sp>
        <p:nvSpPr>
          <p:cNvPr id="4" name="Shape 2"/>
          <p:cNvSpPr/>
          <p:nvPr/>
        </p:nvSpPr>
        <p:spPr>
          <a:xfrm>
            <a:off x="548640" y="1874520"/>
            <a:ext cx="2514600" cy="1965960"/>
          </a:xfrm>
          <a:prstGeom prst="roundRect">
            <a:avLst>
              <a:gd name="adj" fmla="val 4186"/>
            </a:avLst>
          </a:prstGeom>
          <a:solidFill>
            <a:srgbClr val="0E2A3B"/>
          </a:solidFill>
          <a:ln/>
          <a:effectLst>
            <a:outerShdw sx="100000" sy="100000" kx="0" ky="0" algn="bl" rotWithShape="0" blurRad="114300" dist="38100" dir="2700000">
              <a:srgbClr val="0E2A3B">
                <a:alpha val="13000"/>
              </a:srgbClr>
            </a:outerShdw>
          </a:effectLst>
        </p:spPr>
      </p:sp>
      <p:sp>
        <p:nvSpPr>
          <p:cNvPr id="5" name="Text 3"/>
          <p:cNvSpPr/>
          <p:nvPr/>
        </p:nvSpPr>
        <p:spPr>
          <a:xfrm>
            <a:off x="713232" y="2084832"/>
            <a:ext cx="2194560" cy="41148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Gemeinsame Basis</a:t>
            </a:r>
            <a:endParaRPr lang="en-US" sz="1550" dirty="0"/>
          </a:p>
        </p:txBody>
      </p:sp>
      <p:sp>
        <p:nvSpPr>
          <p:cNvPr id="6" name="Text 4"/>
          <p:cNvSpPr/>
          <p:nvPr/>
        </p:nvSpPr>
        <p:spPr>
          <a:xfrm>
            <a:off x="713232" y="2560320"/>
            <a:ext cx="2212848" cy="1188720"/>
          </a:xfrm>
          <a:prstGeom prst="rect">
            <a:avLst/>
          </a:prstGeom>
          <a:noFill/>
          <a:ln/>
        </p:spPr>
        <p:txBody>
          <a:bodyPr wrap="square" lIns="0" tIns="0" rIns="0" bIns="0" rtlCol="0" anchor="t"/>
          <a:lstStyle/>
          <a:p>
            <a:pPr indent="0" marL="0">
              <a:buNone/>
            </a:pPr>
            <a:r>
              <a:rPr lang="en-US" sz="1300" dirty="0">
                <a:solidFill>
                  <a:srgbClr val="EAF2F7"/>
                </a:solidFill>
                <a:latin typeface="Calibri" pitchFamily="34" charset="0"/>
                <a:ea typeface="Calibri" pitchFamily="34" charset="-122"/>
                <a:cs typeface="Calibri" pitchFamily="34" charset="-120"/>
              </a:rPr>
              <a:t>Stack · Datenquellen · Hybrid-Prinzip · Anti-Halluzination</a:t>
            </a:r>
            <a:endParaRPr lang="en-US" sz="1300" dirty="0"/>
          </a:p>
        </p:txBody>
      </p:sp>
      <p:sp>
        <p:nvSpPr>
          <p:cNvPr id="7" name="Shape 5"/>
          <p:cNvSpPr/>
          <p:nvPr/>
        </p:nvSpPr>
        <p:spPr>
          <a:xfrm>
            <a:off x="3108960" y="2423160"/>
            <a:ext cx="457200" cy="-320040"/>
          </a:xfrm>
          <a:prstGeom prst="line">
            <a:avLst/>
          </a:prstGeom>
          <a:noFill/>
          <a:ln w="28575">
            <a:solidFill>
              <a:srgbClr val="1C7293"/>
            </a:solidFill>
            <a:prstDash val="solid"/>
            <a:tailEnd type="triangle"/>
          </a:ln>
        </p:spPr>
      </p:sp>
      <p:sp>
        <p:nvSpPr>
          <p:cNvPr id="8" name="Shape 6"/>
          <p:cNvSpPr/>
          <p:nvPr/>
        </p:nvSpPr>
        <p:spPr>
          <a:xfrm>
            <a:off x="3108960" y="3246120"/>
            <a:ext cx="457200" cy="320040"/>
          </a:xfrm>
          <a:prstGeom prst="line">
            <a:avLst/>
          </a:prstGeom>
          <a:noFill/>
          <a:ln w="28575">
            <a:solidFill>
              <a:srgbClr val="1C7293"/>
            </a:solidFill>
            <a:prstDash val="solid"/>
            <a:tailEnd type="triangle"/>
          </a:ln>
        </p:spPr>
      </p:sp>
      <p:sp>
        <p:nvSpPr>
          <p:cNvPr id="9" name="Shape 7"/>
          <p:cNvSpPr/>
          <p:nvPr/>
        </p:nvSpPr>
        <p:spPr>
          <a:xfrm>
            <a:off x="3639312" y="1554480"/>
            <a:ext cx="3703320" cy="1234440"/>
          </a:xfrm>
          <a:prstGeom prst="roundRect">
            <a:avLst>
              <a:gd name="adj" fmla="val 6667"/>
            </a:avLst>
          </a:prstGeom>
          <a:solidFill>
            <a:srgbClr val="F2F6F9"/>
          </a:solidFill>
          <a:ln w="19050">
            <a:solidFill>
              <a:srgbClr val="2F6DB5"/>
            </a:solidFill>
            <a:prstDash val="solid"/>
          </a:ln>
          <a:effectLst>
            <a:outerShdw sx="100000" sy="100000" kx="0" ky="0" algn="bl" rotWithShape="0" blurRad="114300" dist="38100" dir="2700000">
              <a:srgbClr val="0E2A3B">
                <a:alpha val="13000"/>
              </a:srgbClr>
            </a:outerShdw>
          </a:effectLst>
        </p:spPr>
      </p:sp>
      <p:sp>
        <p:nvSpPr>
          <p:cNvPr id="10" name="Shape 8"/>
          <p:cNvSpPr/>
          <p:nvPr/>
        </p:nvSpPr>
        <p:spPr>
          <a:xfrm>
            <a:off x="3858768" y="1783080"/>
            <a:ext cx="164592" cy="164592"/>
          </a:xfrm>
          <a:prstGeom prst="ellipse">
            <a:avLst/>
          </a:prstGeom>
          <a:solidFill>
            <a:srgbClr val="2F6DB5"/>
          </a:solidFill>
          <a:ln/>
        </p:spPr>
      </p:sp>
      <p:sp>
        <p:nvSpPr>
          <p:cNvPr id="11" name="Text 9"/>
          <p:cNvSpPr/>
          <p:nvPr/>
        </p:nvSpPr>
        <p:spPr>
          <a:xfrm>
            <a:off x="4114800" y="1700784"/>
            <a:ext cx="3108960" cy="365760"/>
          </a:xfrm>
          <a:prstGeom prst="rect">
            <a:avLst/>
          </a:prstGeom>
          <a:noFill/>
          <a:ln/>
        </p:spPr>
        <p:txBody>
          <a:bodyPr wrap="square" lIns="0" tIns="0" rIns="0" bIns="0" rtlCol="0" anchor="t"/>
          <a:lstStyle/>
          <a:p>
            <a:pPr indent="0" marL="0">
              <a:buNone/>
            </a:pPr>
            <a:r>
              <a:rPr lang="en-US" sz="1450" b="1" dirty="0">
                <a:solidFill>
                  <a:srgbClr val="13293D"/>
                </a:solidFill>
                <a:latin typeface="Cambria" pitchFamily="34" charset="0"/>
                <a:ea typeface="Cambria" pitchFamily="34" charset="-122"/>
                <a:cs typeface="Cambria" pitchFamily="34" charset="-120"/>
              </a:rPr>
              <a:t>Alt-A · Data-Science-Ziel</a:t>
            </a:r>
            <a:endParaRPr lang="en-US" sz="1450" dirty="0"/>
          </a:p>
        </p:txBody>
      </p:sp>
      <p:sp>
        <p:nvSpPr>
          <p:cNvPr id="12" name="Text 10"/>
          <p:cNvSpPr/>
          <p:nvPr/>
        </p:nvSpPr>
        <p:spPr>
          <a:xfrm>
            <a:off x="3858768" y="2103120"/>
            <a:ext cx="3337560" cy="640080"/>
          </a:xfrm>
          <a:prstGeom prst="rect">
            <a:avLst/>
          </a:prstGeom>
          <a:noFill/>
          <a:ln/>
        </p:spPr>
        <p:txBody>
          <a:bodyPr wrap="square" lIns="0" tIns="0" rIns="0" bIns="0" rtlCol="0" anchor="t"/>
          <a:lstStyle/>
          <a:p>
            <a:pPr indent="0" marL="0">
              <a:buNone/>
            </a:pPr>
            <a:r>
              <a:rPr lang="en-US" sz="1250" dirty="0">
                <a:solidFill>
                  <a:srgbClr val="5B7385"/>
                </a:solidFill>
                <a:latin typeface="Calibri" pitchFamily="34" charset="0"/>
                <a:ea typeface="Calibri" pitchFamily="34" charset="-122"/>
                <a:cs typeface="Calibri" pitchFamily="34" charset="-120"/>
              </a:rPr>
              <a:t>Klare Rechnung entscheidet Kaufen/Halten/Verkaufen, die KI erklärt (Team A)</a:t>
            </a:r>
            <a:endParaRPr lang="en-US" sz="1250" dirty="0"/>
          </a:p>
        </p:txBody>
      </p:sp>
      <p:sp>
        <p:nvSpPr>
          <p:cNvPr id="13" name="Shape 11"/>
          <p:cNvSpPr/>
          <p:nvPr/>
        </p:nvSpPr>
        <p:spPr>
          <a:xfrm>
            <a:off x="3639312" y="2926080"/>
            <a:ext cx="3703320" cy="1234440"/>
          </a:xfrm>
          <a:prstGeom prst="roundRect">
            <a:avLst>
              <a:gd name="adj" fmla="val 6667"/>
            </a:avLst>
          </a:prstGeom>
          <a:solidFill>
            <a:srgbClr val="F2F6F9"/>
          </a:solidFill>
          <a:ln w="19050">
            <a:solidFill>
              <a:srgbClr val="D9982B"/>
            </a:solidFill>
            <a:prstDash val="solid"/>
          </a:ln>
          <a:effectLst>
            <a:outerShdw sx="100000" sy="100000" kx="0" ky="0" algn="bl" rotWithShape="0" blurRad="114300" dist="38100" dir="2700000">
              <a:srgbClr val="0E2A3B">
                <a:alpha val="13000"/>
              </a:srgbClr>
            </a:outerShdw>
          </a:effectLst>
        </p:spPr>
      </p:sp>
      <p:sp>
        <p:nvSpPr>
          <p:cNvPr id="14" name="Shape 12"/>
          <p:cNvSpPr/>
          <p:nvPr/>
        </p:nvSpPr>
        <p:spPr>
          <a:xfrm>
            <a:off x="3858768" y="3154680"/>
            <a:ext cx="164592" cy="164592"/>
          </a:xfrm>
          <a:prstGeom prst="ellipse">
            <a:avLst/>
          </a:prstGeom>
          <a:solidFill>
            <a:srgbClr val="D9982B"/>
          </a:solidFill>
          <a:ln/>
        </p:spPr>
      </p:sp>
      <p:sp>
        <p:nvSpPr>
          <p:cNvPr id="15" name="Text 13"/>
          <p:cNvSpPr/>
          <p:nvPr/>
        </p:nvSpPr>
        <p:spPr>
          <a:xfrm>
            <a:off x="4114800" y="3072384"/>
            <a:ext cx="3108960" cy="365760"/>
          </a:xfrm>
          <a:prstGeom prst="rect">
            <a:avLst/>
          </a:prstGeom>
          <a:noFill/>
          <a:ln/>
        </p:spPr>
        <p:txBody>
          <a:bodyPr wrap="square" lIns="0" tIns="0" rIns="0" bIns="0" rtlCol="0" anchor="t"/>
          <a:lstStyle/>
          <a:p>
            <a:pPr indent="0" marL="0">
              <a:buNone/>
            </a:pPr>
            <a:r>
              <a:rPr lang="en-US" sz="1450" b="1" dirty="0">
                <a:solidFill>
                  <a:srgbClr val="13293D"/>
                </a:solidFill>
                <a:latin typeface="Cambria" pitchFamily="34" charset="0"/>
                <a:ea typeface="Cambria" pitchFamily="34" charset="-122"/>
                <a:cs typeface="Cambria" pitchFamily="34" charset="-120"/>
              </a:rPr>
              <a:t>Alt-B · Natural-Language-Ziel</a:t>
            </a:r>
            <a:endParaRPr lang="en-US" sz="1450" dirty="0"/>
          </a:p>
        </p:txBody>
      </p:sp>
      <p:sp>
        <p:nvSpPr>
          <p:cNvPr id="16" name="Text 14"/>
          <p:cNvSpPr/>
          <p:nvPr/>
        </p:nvSpPr>
        <p:spPr>
          <a:xfrm>
            <a:off x="3858768" y="3474720"/>
            <a:ext cx="3337560" cy="658368"/>
          </a:xfrm>
          <a:prstGeom prst="rect">
            <a:avLst/>
          </a:prstGeom>
          <a:noFill/>
          <a:ln/>
        </p:spPr>
        <p:txBody>
          <a:bodyPr wrap="square" lIns="0" tIns="0" rIns="0" bIns="0" rtlCol="0" anchor="t"/>
          <a:lstStyle/>
          <a:p>
            <a:pPr indent="0" marL="0">
              <a:buNone/>
            </a:pPr>
            <a:r>
              <a:rPr lang="en-US" sz="1250" dirty="0">
                <a:solidFill>
                  <a:srgbClr val="5B7385"/>
                </a:solidFill>
                <a:latin typeface="Calibri" pitchFamily="34" charset="0"/>
                <a:ea typeface="Calibri" pitchFamily="34" charset="-122"/>
                <a:cs typeface="Calibri" pitchFamily="34" charset="-120"/>
              </a:rPr>
              <a:t>Die KI beurteilt ein Kriterium in Klarsprache über vorgefilterte News (Team B)</a:t>
            </a:r>
            <a:endParaRPr lang="en-US" sz="1250" dirty="0"/>
          </a:p>
        </p:txBody>
      </p:sp>
      <p:sp>
        <p:nvSpPr>
          <p:cNvPr id="17" name="Shape 15"/>
          <p:cNvSpPr/>
          <p:nvPr/>
        </p:nvSpPr>
        <p:spPr>
          <a:xfrm>
            <a:off x="7388352" y="2194560"/>
            <a:ext cx="457200" cy="457200"/>
          </a:xfrm>
          <a:prstGeom prst="line">
            <a:avLst/>
          </a:prstGeom>
          <a:noFill/>
          <a:ln w="28575">
            <a:solidFill>
              <a:srgbClr val="2EC4B6"/>
            </a:solidFill>
            <a:prstDash val="solid"/>
            <a:tailEnd type="triangle"/>
          </a:ln>
        </p:spPr>
      </p:sp>
      <p:sp>
        <p:nvSpPr>
          <p:cNvPr id="18" name="Shape 16"/>
          <p:cNvSpPr/>
          <p:nvPr/>
        </p:nvSpPr>
        <p:spPr>
          <a:xfrm>
            <a:off x="7388352" y="3520440"/>
            <a:ext cx="457200" cy="-457200"/>
          </a:xfrm>
          <a:prstGeom prst="line">
            <a:avLst/>
          </a:prstGeom>
          <a:noFill/>
          <a:ln w="28575">
            <a:solidFill>
              <a:srgbClr val="2EC4B6"/>
            </a:solidFill>
            <a:prstDash val="solid"/>
            <a:tailEnd type="triangle"/>
          </a:ln>
        </p:spPr>
      </p:sp>
      <p:sp>
        <p:nvSpPr>
          <p:cNvPr id="19" name="Shape 17"/>
          <p:cNvSpPr/>
          <p:nvPr/>
        </p:nvSpPr>
        <p:spPr>
          <a:xfrm>
            <a:off x="7882128" y="1874520"/>
            <a:ext cx="3758184" cy="1965960"/>
          </a:xfrm>
          <a:prstGeom prst="roundRect">
            <a:avLst>
              <a:gd name="adj" fmla="val 4186"/>
            </a:avLst>
          </a:prstGeom>
          <a:solidFill>
            <a:srgbClr val="0E2A3B"/>
          </a:solidFill>
          <a:ln/>
          <a:effectLst>
            <a:outerShdw sx="100000" sy="100000" kx="0" ky="0" algn="bl" rotWithShape="0" blurRad="114300" dist="38100" dir="2700000">
              <a:srgbClr val="0E2A3B">
                <a:alpha val="13000"/>
              </a:srgbClr>
            </a:outerShdw>
          </a:effectLst>
        </p:spPr>
      </p:sp>
      <p:sp>
        <p:nvSpPr>
          <p:cNvPr id="20" name="Text 18"/>
          <p:cNvSpPr/>
          <p:nvPr/>
        </p:nvSpPr>
        <p:spPr>
          <a:xfrm>
            <a:off x="8092440" y="2084832"/>
            <a:ext cx="3383280" cy="411480"/>
          </a:xfrm>
          <a:prstGeom prst="rect">
            <a:avLst/>
          </a:prstGeom>
          <a:noFill/>
          <a:ln/>
        </p:spPr>
        <p:txBody>
          <a:bodyPr wrap="square" lIns="0" tIns="0" rIns="0" bIns="0" rtlCol="0" anchor="t"/>
          <a:lstStyle/>
          <a:p>
            <a:pPr indent="0" marL="0">
              <a:buNone/>
            </a:pPr>
            <a:r>
              <a:rPr lang="en-US" sz="1550" b="1" dirty="0">
                <a:solidFill>
                  <a:srgbClr val="2EC4B6"/>
                </a:solidFill>
                <a:latin typeface="Cambria" pitchFamily="34" charset="0"/>
                <a:ea typeface="Cambria" pitchFamily="34" charset="-122"/>
                <a:cs typeface="Cambria" pitchFamily="34" charset="-120"/>
              </a:rPr>
              <a:t>Konsolidiert</a:t>
            </a:r>
            <a:endParaRPr lang="en-US" sz="1550" dirty="0"/>
          </a:p>
        </p:txBody>
      </p:sp>
      <p:sp>
        <p:nvSpPr>
          <p:cNvPr id="21" name="Text 19"/>
          <p:cNvSpPr/>
          <p:nvPr/>
        </p:nvSpPr>
        <p:spPr>
          <a:xfrm>
            <a:off x="8092440" y="2560320"/>
            <a:ext cx="3401568" cy="1188720"/>
          </a:xfrm>
          <a:prstGeom prst="rect">
            <a:avLst/>
          </a:prstGeom>
          <a:noFill/>
          <a:ln/>
        </p:spPr>
        <p:txBody>
          <a:bodyPr wrap="square" lIns="0" tIns="0" rIns="0" bIns="0" rtlCol="0" anchor="t"/>
          <a:lstStyle/>
          <a:p>
            <a:pPr indent="0" marL="0">
              <a:buNone/>
            </a:pPr>
            <a:r>
              <a:rPr lang="en-US" sz="1300" dirty="0">
                <a:solidFill>
                  <a:srgbClr val="EAF2F7"/>
                </a:solidFill>
                <a:latin typeface="Calibri" pitchFamily="34" charset="0"/>
                <a:ea typeface="Calibri" pitchFamily="34" charset="-122"/>
                <a:cs typeface="Calibri" pitchFamily="34" charset="-120"/>
              </a:rPr>
              <a:t>Ein Router-Chat-Agent, der beides vereint — plus solides Walk-Forward-Backtesting</a:t>
            </a:r>
            <a:endParaRPr lang="en-US" sz="1300" dirty="0"/>
          </a:p>
        </p:txBody>
      </p:sp>
      <p:sp>
        <p:nvSpPr>
          <p:cNvPr id="22" name="Shape 20"/>
          <p:cNvSpPr/>
          <p:nvPr/>
        </p:nvSpPr>
        <p:spPr>
          <a:xfrm>
            <a:off x="548640" y="4343400"/>
            <a:ext cx="2679192" cy="1371600"/>
          </a:xfrm>
          <a:prstGeom prst="roundRect">
            <a:avLst>
              <a:gd name="adj" fmla="val 6000"/>
            </a:avLst>
          </a:prstGeom>
          <a:solidFill>
            <a:srgbClr val="F2F6F9"/>
          </a:solidFill>
          <a:ln/>
          <a:effectLst>
            <a:outerShdw sx="100000" sy="100000" kx="0" ky="0" algn="bl" rotWithShape="0" blurRad="114300" dist="38100" dir="2700000">
              <a:srgbClr val="0E2A3B">
                <a:alpha val="13000"/>
              </a:srgbClr>
            </a:outerShdw>
          </a:effectLst>
        </p:spPr>
      </p:sp>
      <p:sp>
        <p:nvSpPr>
          <p:cNvPr id="23" name="Text 21"/>
          <p:cNvSpPr/>
          <p:nvPr/>
        </p:nvSpPr>
        <p:spPr>
          <a:xfrm>
            <a:off x="640080" y="4526280"/>
            <a:ext cx="2496312" cy="685800"/>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51</a:t>
            </a:r>
            <a:endParaRPr lang="en-US" sz="4000" dirty="0"/>
          </a:p>
        </p:txBody>
      </p:sp>
      <p:sp>
        <p:nvSpPr>
          <p:cNvPr id="24" name="Text 22"/>
          <p:cNvSpPr/>
          <p:nvPr/>
        </p:nvSpPr>
        <p:spPr>
          <a:xfrm>
            <a:off x="640080" y="5257800"/>
            <a:ext cx="2496312" cy="365760"/>
          </a:xfrm>
          <a:prstGeom prst="rect">
            <a:avLst/>
          </a:prstGeom>
          <a:noFill/>
          <a:ln/>
        </p:spPr>
        <p:txBody>
          <a:bodyPr wrap="square" lIns="0" tIns="0" rIns="0" bIns="0" rtlCol="0" anchor="t"/>
          <a:lstStyle/>
          <a:p>
            <a:pPr algn="ctr" indent="0" marL="0">
              <a:buNone/>
            </a:pPr>
            <a:r>
              <a:rPr lang="en-US" sz="1350" dirty="0">
                <a:solidFill>
                  <a:srgbClr val="5B7385"/>
                </a:solidFill>
                <a:latin typeface="Calibri" pitchFamily="34" charset="0"/>
                <a:ea typeface="Calibri" pitchFamily="34" charset="-122"/>
                <a:cs typeface="Calibri" pitchFamily="34" charset="-120"/>
              </a:rPr>
              <a:t>Commits</a:t>
            </a:r>
            <a:endParaRPr lang="en-US" sz="1350" dirty="0"/>
          </a:p>
        </p:txBody>
      </p:sp>
      <p:sp>
        <p:nvSpPr>
          <p:cNvPr id="25" name="Shape 23"/>
          <p:cNvSpPr/>
          <p:nvPr/>
        </p:nvSpPr>
        <p:spPr>
          <a:xfrm>
            <a:off x="3346704" y="4343400"/>
            <a:ext cx="2679192" cy="1371600"/>
          </a:xfrm>
          <a:prstGeom prst="roundRect">
            <a:avLst>
              <a:gd name="adj" fmla="val 6000"/>
            </a:avLst>
          </a:prstGeom>
          <a:solidFill>
            <a:srgbClr val="F2F6F9"/>
          </a:solidFill>
          <a:ln/>
          <a:effectLst>
            <a:outerShdw sx="100000" sy="100000" kx="0" ky="0" algn="bl" rotWithShape="0" blurRad="114300" dist="38100" dir="2700000">
              <a:srgbClr val="0E2A3B">
                <a:alpha val="13000"/>
              </a:srgbClr>
            </a:outerShdw>
          </a:effectLst>
        </p:spPr>
      </p:sp>
      <p:sp>
        <p:nvSpPr>
          <p:cNvPr id="26" name="Text 24"/>
          <p:cNvSpPr/>
          <p:nvPr/>
        </p:nvSpPr>
        <p:spPr>
          <a:xfrm>
            <a:off x="3438144" y="4526280"/>
            <a:ext cx="2496312" cy="685800"/>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3</a:t>
            </a:r>
            <a:endParaRPr lang="en-US" sz="4000" dirty="0"/>
          </a:p>
        </p:txBody>
      </p:sp>
      <p:sp>
        <p:nvSpPr>
          <p:cNvPr id="27" name="Text 25"/>
          <p:cNvSpPr/>
          <p:nvPr/>
        </p:nvSpPr>
        <p:spPr>
          <a:xfrm>
            <a:off x="3438144" y="5257800"/>
            <a:ext cx="2496312" cy="365760"/>
          </a:xfrm>
          <a:prstGeom prst="rect">
            <a:avLst/>
          </a:prstGeom>
          <a:noFill/>
          <a:ln/>
        </p:spPr>
        <p:txBody>
          <a:bodyPr wrap="square" lIns="0" tIns="0" rIns="0" bIns="0" rtlCol="0" anchor="t"/>
          <a:lstStyle/>
          <a:p>
            <a:pPr algn="ctr" indent="0" marL="0">
              <a:buNone/>
            </a:pPr>
            <a:r>
              <a:rPr lang="en-US" sz="1350" dirty="0">
                <a:solidFill>
                  <a:srgbClr val="5B7385"/>
                </a:solidFill>
                <a:latin typeface="Calibri" pitchFamily="34" charset="0"/>
                <a:ea typeface="Calibri" pitchFamily="34" charset="-122"/>
                <a:cs typeface="Calibri" pitchFamily="34" charset="-120"/>
              </a:rPr>
              <a:t>Beitragende</a:t>
            </a:r>
            <a:endParaRPr lang="en-US" sz="1350" dirty="0"/>
          </a:p>
        </p:txBody>
      </p:sp>
      <p:sp>
        <p:nvSpPr>
          <p:cNvPr id="28" name="Shape 26"/>
          <p:cNvSpPr/>
          <p:nvPr/>
        </p:nvSpPr>
        <p:spPr>
          <a:xfrm>
            <a:off x="6144768" y="4343400"/>
            <a:ext cx="2679192" cy="1371600"/>
          </a:xfrm>
          <a:prstGeom prst="roundRect">
            <a:avLst>
              <a:gd name="adj" fmla="val 6000"/>
            </a:avLst>
          </a:prstGeom>
          <a:solidFill>
            <a:srgbClr val="F2F6F9"/>
          </a:solidFill>
          <a:ln/>
          <a:effectLst>
            <a:outerShdw sx="100000" sy="100000" kx="0" ky="0" algn="bl" rotWithShape="0" blurRad="114300" dist="38100" dir="2700000">
              <a:srgbClr val="0E2A3B">
                <a:alpha val="13000"/>
              </a:srgbClr>
            </a:outerShdw>
          </a:effectLst>
        </p:spPr>
      </p:sp>
      <p:sp>
        <p:nvSpPr>
          <p:cNvPr id="29" name="Text 27"/>
          <p:cNvSpPr/>
          <p:nvPr/>
        </p:nvSpPr>
        <p:spPr>
          <a:xfrm>
            <a:off x="6236208" y="4526280"/>
            <a:ext cx="2496312" cy="685800"/>
          </a:xfrm>
          <a:prstGeom prst="rect">
            <a:avLst/>
          </a:prstGeom>
          <a:noFill/>
          <a:ln/>
        </p:spPr>
        <p:txBody>
          <a:bodyPr wrap="square" lIns="0" tIns="0" rIns="0" bIns="0" rtlCol="0" anchor="ctr"/>
          <a:lstStyle/>
          <a:p>
            <a:pPr algn="ctr" indent="0" marL="0">
              <a:buNone/>
            </a:pPr>
            <a:r>
              <a:rPr lang="en-US" sz="2300" b="1" dirty="0">
                <a:solidFill>
                  <a:srgbClr val="1C7293"/>
                </a:solidFill>
                <a:latin typeface="Cambria" pitchFamily="34" charset="0"/>
                <a:ea typeface="Cambria" pitchFamily="34" charset="-122"/>
                <a:cs typeface="Cambria" pitchFamily="34" charset="-120"/>
              </a:rPr>
              <a:t>Apr–Jun 2026</a:t>
            </a:r>
            <a:endParaRPr lang="en-US" sz="2300" dirty="0"/>
          </a:p>
        </p:txBody>
      </p:sp>
      <p:sp>
        <p:nvSpPr>
          <p:cNvPr id="30" name="Text 28"/>
          <p:cNvSpPr/>
          <p:nvPr/>
        </p:nvSpPr>
        <p:spPr>
          <a:xfrm>
            <a:off x="6236208" y="5257800"/>
            <a:ext cx="2496312" cy="365760"/>
          </a:xfrm>
          <a:prstGeom prst="rect">
            <a:avLst/>
          </a:prstGeom>
          <a:noFill/>
          <a:ln/>
        </p:spPr>
        <p:txBody>
          <a:bodyPr wrap="square" lIns="0" tIns="0" rIns="0" bIns="0" rtlCol="0" anchor="t"/>
          <a:lstStyle/>
          <a:p>
            <a:pPr algn="ctr" indent="0" marL="0">
              <a:buNone/>
            </a:pPr>
            <a:r>
              <a:rPr lang="en-US" sz="1350" dirty="0">
                <a:solidFill>
                  <a:srgbClr val="5B7385"/>
                </a:solidFill>
                <a:latin typeface="Calibri" pitchFamily="34" charset="0"/>
                <a:ea typeface="Calibri" pitchFamily="34" charset="-122"/>
                <a:cs typeface="Calibri" pitchFamily="34" charset="-120"/>
              </a:rPr>
              <a:t>Zeitraum</a:t>
            </a:r>
            <a:endParaRPr lang="en-US" sz="1350" dirty="0"/>
          </a:p>
        </p:txBody>
      </p:sp>
      <p:sp>
        <p:nvSpPr>
          <p:cNvPr id="31" name="Shape 29"/>
          <p:cNvSpPr/>
          <p:nvPr/>
        </p:nvSpPr>
        <p:spPr>
          <a:xfrm>
            <a:off x="8942832" y="4343400"/>
            <a:ext cx="2679192" cy="1371600"/>
          </a:xfrm>
          <a:prstGeom prst="roundRect">
            <a:avLst>
              <a:gd name="adj" fmla="val 6000"/>
            </a:avLst>
          </a:prstGeom>
          <a:solidFill>
            <a:srgbClr val="F2F6F9"/>
          </a:solidFill>
          <a:ln/>
          <a:effectLst>
            <a:outerShdw sx="100000" sy="100000" kx="0" ky="0" algn="bl" rotWithShape="0" blurRad="114300" dist="38100" dir="2700000">
              <a:srgbClr val="0E2A3B">
                <a:alpha val="13000"/>
              </a:srgbClr>
            </a:outerShdw>
          </a:effectLst>
        </p:spPr>
      </p:sp>
      <p:sp>
        <p:nvSpPr>
          <p:cNvPr id="32" name="Text 30"/>
          <p:cNvSpPr/>
          <p:nvPr/>
        </p:nvSpPr>
        <p:spPr>
          <a:xfrm>
            <a:off x="9034272" y="4526280"/>
            <a:ext cx="2496312" cy="685800"/>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2</a:t>
            </a:r>
            <a:endParaRPr lang="en-US" sz="4000" dirty="0"/>
          </a:p>
        </p:txBody>
      </p:sp>
      <p:sp>
        <p:nvSpPr>
          <p:cNvPr id="33" name="Text 31"/>
          <p:cNvSpPr/>
          <p:nvPr/>
        </p:nvSpPr>
        <p:spPr>
          <a:xfrm>
            <a:off x="9034272" y="5257800"/>
            <a:ext cx="2496312" cy="365760"/>
          </a:xfrm>
          <a:prstGeom prst="rect">
            <a:avLst/>
          </a:prstGeom>
          <a:noFill/>
          <a:ln/>
        </p:spPr>
        <p:txBody>
          <a:bodyPr wrap="square" lIns="0" tIns="0" rIns="0" bIns="0" rtlCol="0" anchor="t"/>
          <a:lstStyle/>
          <a:p>
            <a:pPr algn="ctr" indent="0" marL="0">
              <a:buNone/>
            </a:pPr>
            <a:r>
              <a:rPr lang="en-US" sz="1350" dirty="0">
                <a:solidFill>
                  <a:srgbClr val="5B7385"/>
                </a:solidFill>
                <a:latin typeface="Calibri" pitchFamily="34" charset="0"/>
                <a:ea typeface="Calibri" pitchFamily="34" charset="-122"/>
                <a:cs typeface="Calibri" pitchFamily="34" charset="-120"/>
              </a:rPr>
              <a:t>Strategie-Ansätze</a:t>
            </a:r>
            <a:endParaRPr lang="en-US" sz="1350" dirty="0"/>
          </a:p>
        </p:txBody>
      </p:sp>
      <p:sp>
        <p:nvSpPr>
          <p:cNvPr id="34" name="Text 32"/>
          <p:cNvSpPr/>
          <p:nvPr/>
        </p:nvSpPr>
        <p:spPr>
          <a:xfrm>
            <a:off x="548640" y="5897880"/>
            <a:ext cx="11091672" cy="365760"/>
          </a:xfrm>
          <a:prstGeom prst="rect">
            <a:avLst/>
          </a:prstGeom>
          <a:noFill/>
          <a:ln/>
        </p:spPr>
        <p:txBody>
          <a:bodyPr wrap="square" lIns="0" tIns="0" rIns="0" bIns="0" rtlCol="0" anchor="t"/>
          <a:lstStyle/>
          <a:p>
            <a:pPr indent="0" marL="0">
              <a:buNone/>
            </a:pPr>
            <a:r>
              <a:rPr lang="en-US" sz="1200" i="1" dirty="0">
                <a:solidFill>
                  <a:srgbClr val="5B7385"/>
                </a:solidFill>
                <a:latin typeface="Calibri" pitchFamily="34" charset="0"/>
                <a:ea typeface="Calibri" pitchFamily="34" charset="-122"/>
                <a:cs typeface="Calibri" pitchFamily="34" charset="-120"/>
              </a:rPr>
              <a:t>Beitragende: Luca Fritzsching · Le Anh Minh Bui · Sandro Ngoga   |   Branches: main · feature/strategy-alt-a · feature/alt-b-refactor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t"/>
          <a:lstStyle/>
          <a:p>
            <a:pPr indent="0" marL="0">
              <a:buNone/>
            </a:pPr>
            <a:r>
              <a:rPr lang="en-US" sz="3400" b="1" dirty="0">
                <a:solidFill>
                  <a:srgbClr val="0E2A3B"/>
                </a:solidFill>
                <a:latin typeface="Cambria" pitchFamily="34" charset="0"/>
                <a:ea typeface="Cambria" pitchFamily="34" charset="-122"/>
                <a:cs typeface="Cambria" pitchFamily="34" charset="-120"/>
              </a:rPr>
              <a:t>Architektur — bewusst einfach</a:t>
            </a:r>
            <a:endParaRPr lang="en-US" sz="3400" dirty="0"/>
          </a:p>
        </p:txBody>
      </p:sp>
      <p:sp>
        <p:nvSpPr>
          <p:cNvPr id="3" name="Text 1"/>
          <p:cNvSpPr/>
          <p:nvPr/>
        </p:nvSpPr>
        <p:spPr>
          <a:xfrm>
            <a:off x="566928" y="1078992"/>
            <a:ext cx="10972800" cy="457200"/>
          </a:xfrm>
          <a:prstGeom prst="rect">
            <a:avLst/>
          </a:prstGeom>
          <a:noFill/>
          <a:ln/>
        </p:spPr>
        <p:txBody>
          <a:bodyPr wrap="square" lIns="0" tIns="0" rIns="0" bIns="0" rtlCol="0" anchor="t"/>
          <a:lstStyle/>
          <a:p>
            <a:pPr indent="0" marL="0">
              <a:buNone/>
            </a:pPr>
            <a:r>
              <a:rPr lang="en-US" sz="1800" dirty="0">
                <a:solidFill>
                  <a:srgbClr val="1C7293"/>
                </a:solidFill>
                <a:latin typeface="Cambria" pitchFamily="34" charset="0"/>
                <a:ea typeface="Cambria" pitchFamily="34" charset="-122"/>
                <a:cs typeface="Cambria" pitchFamily="34" charset="-120"/>
              </a:rPr>
              <a:t>Alles läuft lokal auf dem Rechner — keine Cloud, keine Daten-Weitergabe</a:t>
            </a:r>
            <a:endParaRPr lang="en-US" sz="1800" dirty="0"/>
          </a:p>
        </p:txBody>
      </p:sp>
      <p:sp>
        <p:nvSpPr>
          <p:cNvPr id="4" name="Shape 2"/>
          <p:cNvSpPr/>
          <p:nvPr/>
        </p:nvSpPr>
        <p:spPr>
          <a:xfrm>
            <a:off x="548640" y="2148840"/>
            <a:ext cx="2743200" cy="1417320"/>
          </a:xfrm>
          <a:prstGeom prst="roundRect">
            <a:avLst>
              <a:gd name="adj" fmla="val 5806"/>
            </a:avLst>
          </a:prstGeom>
          <a:solidFill>
            <a:srgbClr val="0E2A3B"/>
          </a:solidFill>
          <a:ln/>
          <a:effectLst>
            <a:outerShdw sx="100000" sy="100000" kx="0" ky="0" algn="bl" rotWithShape="0" blurRad="114300" dist="38100" dir="2700000">
              <a:srgbClr val="0E2A3B">
                <a:alpha val="13000"/>
              </a:srgbClr>
            </a:outerShdw>
          </a:effectLst>
        </p:spPr>
      </p:sp>
      <p:sp>
        <p:nvSpPr>
          <p:cNvPr id="5" name="Text 3"/>
          <p:cNvSpPr/>
          <p:nvPr/>
        </p:nvSpPr>
        <p:spPr>
          <a:xfrm>
            <a:off x="731520" y="2377440"/>
            <a:ext cx="2377440" cy="4114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Browser</a:t>
            </a:r>
            <a:endParaRPr lang="en-US" sz="1700" dirty="0"/>
          </a:p>
        </p:txBody>
      </p:sp>
      <p:sp>
        <p:nvSpPr>
          <p:cNvPr id="6" name="Text 4"/>
          <p:cNvSpPr/>
          <p:nvPr/>
        </p:nvSpPr>
        <p:spPr>
          <a:xfrm>
            <a:off x="731520" y="2816352"/>
            <a:ext cx="2377440" cy="365760"/>
          </a:xfrm>
          <a:prstGeom prst="rect">
            <a:avLst/>
          </a:prstGeom>
          <a:noFill/>
          <a:ln/>
        </p:spPr>
        <p:txBody>
          <a:bodyPr wrap="square" lIns="0" tIns="0" rIns="0" bIns="0" rtlCol="0" anchor="t"/>
          <a:lstStyle/>
          <a:p>
            <a:pPr indent="0" marL="0">
              <a:buNone/>
            </a:pPr>
            <a:r>
              <a:rPr lang="en-US" sz="1350" dirty="0">
                <a:solidFill>
                  <a:srgbClr val="2EC4B6"/>
                </a:solidFill>
                <a:latin typeface="Calibri" pitchFamily="34" charset="0"/>
                <a:ea typeface="Calibri" pitchFamily="34" charset="-122"/>
                <a:cs typeface="Calibri" pitchFamily="34" charset="-120"/>
              </a:rPr>
              <a:t>Vue 3 + TypeScript</a:t>
            </a:r>
            <a:endParaRPr lang="en-US" sz="1350" dirty="0"/>
          </a:p>
        </p:txBody>
      </p:sp>
      <p:sp>
        <p:nvSpPr>
          <p:cNvPr id="7" name="Text 5"/>
          <p:cNvSpPr/>
          <p:nvPr/>
        </p:nvSpPr>
        <p:spPr>
          <a:xfrm>
            <a:off x="731520" y="3127248"/>
            <a:ext cx="2377440" cy="365760"/>
          </a:xfrm>
          <a:prstGeom prst="rect">
            <a:avLst/>
          </a:prstGeom>
          <a:noFill/>
          <a:ln/>
        </p:spPr>
        <p:txBody>
          <a:bodyPr wrap="square" lIns="0" tIns="0" rIns="0" bIns="0" rtlCol="0" anchor="t"/>
          <a:lstStyle/>
          <a:p>
            <a:pPr indent="0" marL="0">
              <a:buNone/>
            </a:pPr>
            <a:r>
              <a:rPr lang="en-US" sz="1200" dirty="0">
                <a:solidFill>
                  <a:srgbClr val="9DB6C4"/>
                </a:solidFill>
                <a:latin typeface="Calibri" pitchFamily="34" charset="0"/>
                <a:ea typeface="Calibri" pitchFamily="34" charset="-122"/>
                <a:cs typeface="Calibri" pitchFamily="34" charset="-120"/>
              </a:rPr>
              <a:t>Die Oberfläche</a:t>
            </a:r>
            <a:endParaRPr lang="en-US" sz="1200" dirty="0"/>
          </a:p>
        </p:txBody>
      </p:sp>
      <p:sp>
        <p:nvSpPr>
          <p:cNvPr id="8" name="Shape 6"/>
          <p:cNvSpPr/>
          <p:nvPr/>
        </p:nvSpPr>
        <p:spPr>
          <a:xfrm>
            <a:off x="3346704" y="2852928"/>
            <a:ext cx="566928" cy="0"/>
          </a:xfrm>
          <a:prstGeom prst="line">
            <a:avLst/>
          </a:prstGeom>
          <a:noFill/>
          <a:ln w="31750">
            <a:solidFill>
              <a:srgbClr val="1C7293"/>
            </a:solidFill>
            <a:prstDash val="solid"/>
            <a:tailEnd type="triangle"/>
          </a:ln>
        </p:spPr>
      </p:sp>
      <p:sp>
        <p:nvSpPr>
          <p:cNvPr id="9" name="Shape 7"/>
          <p:cNvSpPr/>
          <p:nvPr/>
        </p:nvSpPr>
        <p:spPr>
          <a:xfrm>
            <a:off x="3977640" y="2148840"/>
            <a:ext cx="2743200" cy="1417320"/>
          </a:xfrm>
          <a:prstGeom prst="roundRect">
            <a:avLst>
              <a:gd name="adj" fmla="val 5806"/>
            </a:avLst>
          </a:prstGeom>
          <a:solidFill>
            <a:srgbClr val="0E2A3B"/>
          </a:solidFill>
          <a:ln/>
          <a:effectLst>
            <a:outerShdw sx="100000" sy="100000" kx="0" ky="0" algn="bl" rotWithShape="0" blurRad="114300" dist="38100" dir="2700000">
              <a:srgbClr val="0E2A3B">
                <a:alpha val="13000"/>
              </a:srgbClr>
            </a:outerShdw>
          </a:effectLst>
        </p:spPr>
      </p:sp>
      <p:sp>
        <p:nvSpPr>
          <p:cNvPr id="10" name="Text 8"/>
          <p:cNvSpPr/>
          <p:nvPr/>
        </p:nvSpPr>
        <p:spPr>
          <a:xfrm>
            <a:off x="4160520" y="2377440"/>
            <a:ext cx="2377440" cy="4114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Backend</a:t>
            </a:r>
            <a:endParaRPr lang="en-US" sz="1700" dirty="0"/>
          </a:p>
        </p:txBody>
      </p:sp>
      <p:sp>
        <p:nvSpPr>
          <p:cNvPr id="11" name="Text 9"/>
          <p:cNvSpPr/>
          <p:nvPr/>
        </p:nvSpPr>
        <p:spPr>
          <a:xfrm>
            <a:off x="4160520" y="2816352"/>
            <a:ext cx="2377440" cy="365760"/>
          </a:xfrm>
          <a:prstGeom prst="rect">
            <a:avLst/>
          </a:prstGeom>
          <a:noFill/>
          <a:ln/>
        </p:spPr>
        <p:txBody>
          <a:bodyPr wrap="square" lIns="0" tIns="0" rIns="0" bIns="0" rtlCol="0" anchor="t"/>
          <a:lstStyle/>
          <a:p>
            <a:pPr indent="0" marL="0">
              <a:buNone/>
            </a:pPr>
            <a:r>
              <a:rPr lang="en-US" sz="1350" dirty="0">
                <a:solidFill>
                  <a:srgbClr val="2EC4B6"/>
                </a:solidFill>
                <a:latin typeface="Calibri" pitchFamily="34" charset="0"/>
                <a:ea typeface="Calibri" pitchFamily="34" charset="-122"/>
                <a:cs typeface="Calibri" pitchFamily="34" charset="-120"/>
              </a:rPr>
              <a:t>FastAPI (Python)</a:t>
            </a:r>
            <a:endParaRPr lang="en-US" sz="1350" dirty="0"/>
          </a:p>
        </p:txBody>
      </p:sp>
      <p:sp>
        <p:nvSpPr>
          <p:cNvPr id="12" name="Text 10"/>
          <p:cNvSpPr/>
          <p:nvPr/>
        </p:nvSpPr>
        <p:spPr>
          <a:xfrm>
            <a:off x="4160520" y="3127248"/>
            <a:ext cx="2377440" cy="365760"/>
          </a:xfrm>
          <a:prstGeom prst="rect">
            <a:avLst/>
          </a:prstGeom>
          <a:noFill/>
          <a:ln/>
        </p:spPr>
        <p:txBody>
          <a:bodyPr wrap="square" lIns="0" tIns="0" rIns="0" bIns="0" rtlCol="0" anchor="t"/>
          <a:lstStyle/>
          <a:p>
            <a:pPr indent="0" marL="0">
              <a:buNone/>
            </a:pPr>
            <a:r>
              <a:rPr lang="en-US" sz="1200" dirty="0">
                <a:solidFill>
                  <a:srgbClr val="9DB6C4"/>
                </a:solidFill>
                <a:latin typeface="Calibri" pitchFamily="34" charset="0"/>
                <a:ea typeface="Calibri" pitchFamily="34" charset="-122"/>
                <a:cs typeface="Calibri" pitchFamily="34" charset="-120"/>
              </a:rPr>
              <a:t>Logik &amp; Steuerung</a:t>
            </a:r>
            <a:endParaRPr lang="en-US" sz="1200" dirty="0"/>
          </a:p>
        </p:txBody>
      </p:sp>
      <p:sp>
        <p:nvSpPr>
          <p:cNvPr id="13" name="Shape 11"/>
          <p:cNvSpPr/>
          <p:nvPr/>
        </p:nvSpPr>
        <p:spPr>
          <a:xfrm>
            <a:off x="6775704" y="2852928"/>
            <a:ext cx="1371600" cy="-1024128"/>
          </a:xfrm>
          <a:prstGeom prst="line">
            <a:avLst/>
          </a:prstGeom>
          <a:noFill/>
          <a:ln w="31750">
            <a:solidFill>
              <a:srgbClr val="1C7293"/>
            </a:solidFill>
            <a:prstDash val="solid"/>
            <a:tailEnd type="triangle"/>
          </a:ln>
        </p:spPr>
      </p:sp>
      <p:sp>
        <p:nvSpPr>
          <p:cNvPr id="14" name="Shape 12"/>
          <p:cNvSpPr/>
          <p:nvPr/>
        </p:nvSpPr>
        <p:spPr>
          <a:xfrm>
            <a:off x="6775704" y="2852928"/>
            <a:ext cx="1371600" cy="-146304"/>
          </a:xfrm>
          <a:prstGeom prst="line">
            <a:avLst/>
          </a:prstGeom>
          <a:noFill/>
          <a:ln w="31750">
            <a:solidFill>
              <a:srgbClr val="1C7293"/>
            </a:solidFill>
            <a:prstDash val="solid"/>
            <a:tailEnd type="triangle"/>
          </a:ln>
        </p:spPr>
      </p:sp>
      <p:sp>
        <p:nvSpPr>
          <p:cNvPr id="15" name="Shape 13"/>
          <p:cNvSpPr/>
          <p:nvPr/>
        </p:nvSpPr>
        <p:spPr>
          <a:xfrm>
            <a:off x="6775704" y="2852928"/>
            <a:ext cx="1371600" cy="731520"/>
          </a:xfrm>
          <a:prstGeom prst="line">
            <a:avLst/>
          </a:prstGeom>
          <a:noFill/>
          <a:ln w="31750">
            <a:solidFill>
              <a:srgbClr val="1C7293"/>
            </a:solidFill>
            <a:prstDash val="solid"/>
            <a:tailEnd type="triangle"/>
          </a:ln>
        </p:spPr>
      </p:sp>
      <p:sp>
        <p:nvSpPr>
          <p:cNvPr id="16" name="Shape 14"/>
          <p:cNvSpPr/>
          <p:nvPr/>
        </p:nvSpPr>
        <p:spPr>
          <a:xfrm>
            <a:off x="8275320" y="1463040"/>
            <a:ext cx="3364992" cy="731520"/>
          </a:xfrm>
          <a:prstGeom prst="roundRect">
            <a:avLst>
              <a:gd name="adj" fmla="val 11250"/>
            </a:avLst>
          </a:prstGeom>
          <a:solidFill>
            <a:srgbClr val="F2F6F9"/>
          </a:solidFill>
          <a:ln w="19050">
            <a:solidFill>
              <a:srgbClr val="5B7385"/>
            </a:solidFill>
            <a:prstDash val="solid"/>
          </a:ln>
          <a:effectLst>
            <a:outerShdw sx="100000" sy="100000" kx="0" ky="0" algn="bl" rotWithShape="0" blurRad="114300" dist="38100" dir="2700000">
              <a:srgbClr val="0E2A3B">
                <a:alpha val="13000"/>
              </a:srgbClr>
            </a:outerShdw>
          </a:effectLst>
        </p:spPr>
      </p:sp>
      <p:sp>
        <p:nvSpPr>
          <p:cNvPr id="17" name="Shape 15"/>
          <p:cNvSpPr/>
          <p:nvPr/>
        </p:nvSpPr>
        <p:spPr>
          <a:xfrm>
            <a:off x="8494776" y="1746504"/>
            <a:ext cx="164592" cy="164592"/>
          </a:xfrm>
          <a:prstGeom prst="ellipse">
            <a:avLst/>
          </a:prstGeom>
          <a:solidFill>
            <a:srgbClr val="5B7385"/>
          </a:solidFill>
          <a:ln/>
        </p:spPr>
      </p:sp>
      <p:sp>
        <p:nvSpPr>
          <p:cNvPr id="18" name="Text 16"/>
          <p:cNvSpPr/>
          <p:nvPr/>
        </p:nvSpPr>
        <p:spPr>
          <a:xfrm>
            <a:off x="8778240" y="1609344"/>
            <a:ext cx="2724912" cy="384048"/>
          </a:xfrm>
          <a:prstGeom prst="rect">
            <a:avLst/>
          </a:prstGeom>
          <a:noFill/>
          <a:ln/>
        </p:spPr>
        <p:txBody>
          <a:bodyPr wrap="square" lIns="0" tIns="0" rIns="0" bIns="0" rtlCol="0" anchor="t"/>
          <a:lstStyle/>
          <a:p>
            <a:pPr indent="0" marL="0">
              <a:buNone/>
            </a:pPr>
            <a:r>
              <a:rPr lang="en-US" sz="1450" b="1" dirty="0">
                <a:solidFill>
                  <a:srgbClr val="13293D"/>
                </a:solidFill>
                <a:latin typeface="Cambria" pitchFamily="34" charset="0"/>
                <a:ea typeface="Cambria" pitchFamily="34" charset="-122"/>
                <a:cs typeface="Cambria" pitchFamily="34" charset="-120"/>
              </a:rPr>
              <a:t>PostgreSQL</a:t>
            </a:r>
            <a:endParaRPr lang="en-US" sz="1450" dirty="0"/>
          </a:p>
        </p:txBody>
      </p:sp>
      <p:sp>
        <p:nvSpPr>
          <p:cNvPr id="19" name="Text 17"/>
          <p:cNvSpPr/>
          <p:nvPr/>
        </p:nvSpPr>
        <p:spPr>
          <a:xfrm>
            <a:off x="8778240" y="1975104"/>
            <a:ext cx="2724912" cy="320040"/>
          </a:xfrm>
          <a:prstGeom prst="rect">
            <a:avLst/>
          </a:prstGeom>
          <a:noFill/>
          <a:ln/>
        </p:spPr>
        <p:txBody>
          <a:bodyPr wrap="square" lIns="0" tIns="0" rIns="0" bIns="0" rtlCol="0" anchor="t"/>
          <a:lstStyle/>
          <a:p>
            <a:pPr indent="0" marL="0">
              <a:buNone/>
            </a:pPr>
            <a:r>
              <a:rPr lang="en-US" sz="1250" dirty="0">
                <a:solidFill>
                  <a:srgbClr val="5B7385"/>
                </a:solidFill>
                <a:latin typeface="Calibri" pitchFamily="34" charset="0"/>
                <a:ea typeface="Calibri" pitchFamily="34" charset="-122"/>
                <a:cs typeface="Calibri" pitchFamily="34" charset="-120"/>
              </a:rPr>
              <a:t>Daten &amp; Cache</a:t>
            </a:r>
            <a:endParaRPr lang="en-US" sz="1250" dirty="0"/>
          </a:p>
        </p:txBody>
      </p:sp>
      <p:sp>
        <p:nvSpPr>
          <p:cNvPr id="20" name="Shape 18"/>
          <p:cNvSpPr/>
          <p:nvPr/>
        </p:nvSpPr>
        <p:spPr>
          <a:xfrm>
            <a:off x="8275320" y="2340864"/>
            <a:ext cx="3364992" cy="731520"/>
          </a:xfrm>
          <a:prstGeom prst="roundRect">
            <a:avLst>
              <a:gd name="adj" fmla="val 11250"/>
            </a:avLst>
          </a:prstGeom>
          <a:solidFill>
            <a:srgbClr val="F2F6F9"/>
          </a:solidFill>
          <a:ln w="19050">
            <a:solidFill>
              <a:srgbClr val="D9982B"/>
            </a:solidFill>
            <a:prstDash val="solid"/>
          </a:ln>
          <a:effectLst>
            <a:outerShdw sx="100000" sy="100000" kx="0" ky="0" algn="bl" rotWithShape="0" blurRad="114300" dist="38100" dir="2700000">
              <a:srgbClr val="0E2A3B">
                <a:alpha val="13000"/>
              </a:srgbClr>
            </a:outerShdw>
          </a:effectLst>
        </p:spPr>
      </p:sp>
      <p:sp>
        <p:nvSpPr>
          <p:cNvPr id="21" name="Shape 19"/>
          <p:cNvSpPr/>
          <p:nvPr/>
        </p:nvSpPr>
        <p:spPr>
          <a:xfrm>
            <a:off x="8494776" y="2624328"/>
            <a:ext cx="164592" cy="164592"/>
          </a:xfrm>
          <a:prstGeom prst="ellipse">
            <a:avLst/>
          </a:prstGeom>
          <a:solidFill>
            <a:srgbClr val="D9982B"/>
          </a:solidFill>
          <a:ln/>
        </p:spPr>
      </p:sp>
      <p:sp>
        <p:nvSpPr>
          <p:cNvPr id="22" name="Text 20"/>
          <p:cNvSpPr/>
          <p:nvPr/>
        </p:nvSpPr>
        <p:spPr>
          <a:xfrm>
            <a:off x="8778240" y="2487168"/>
            <a:ext cx="2724912" cy="384048"/>
          </a:xfrm>
          <a:prstGeom prst="rect">
            <a:avLst/>
          </a:prstGeom>
          <a:noFill/>
          <a:ln/>
        </p:spPr>
        <p:txBody>
          <a:bodyPr wrap="square" lIns="0" tIns="0" rIns="0" bIns="0" rtlCol="0" anchor="t"/>
          <a:lstStyle/>
          <a:p>
            <a:pPr indent="0" marL="0">
              <a:buNone/>
            </a:pPr>
            <a:r>
              <a:rPr lang="en-US" sz="1450" b="1" dirty="0">
                <a:solidFill>
                  <a:srgbClr val="13293D"/>
                </a:solidFill>
                <a:latin typeface="Cambria" pitchFamily="34" charset="0"/>
                <a:ea typeface="Cambria" pitchFamily="34" charset="-122"/>
                <a:cs typeface="Cambria" pitchFamily="34" charset="-120"/>
              </a:rPr>
              <a:t>Ollama · qwen3:14b</a:t>
            </a:r>
            <a:endParaRPr lang="en-US" sz="1450" dirty="0"/>
          </a:p>
        </p:txBody>
      </p:sp>
      <p:sp>
        <p:nvSpPr>
          <p:cNvPr id="23" name="Text 21"/>
          <p:cNvSpPr/>
          <p:nvPr/>
        </p:nvSpPr>
        <p:spPr>
          <a:xfrm>
            <a:off x="8778240" y="2852928"/>
            <a:ext cx="2724912" cy="320040"/>
          </a:xfrm>
          <a:prstGeom prst="rect">
            <a:avLst/>
          </a:prstGeom>
          <a:noFill/>
          <a:ln/>
        </p:spPr>
        <p:txBody>
          <a:bodyPr wrap="square" lIns="0" tIns="0" rIns="0" bIns="0" rtlCol="0" anchor="t"/>
          <a:lstStyle/>
          <a:p>
            <a:pPr indent="0" marL="0">
              <a:buNone/>
            </a:pPr>
            <a:r>
              <a:rPr lang="en-US" sz="1250" dirty="0">
                <a:solidFill>
                  <a:srgbClr val="5B7385"/>
                </a:solidFill>
                <a:latin typeface="Calibri" pitchFamily="34" charset="0"/>
                <a:ea typeface="Calibri" pitchFamily="34" charset="-122"/>
                <a:cs typeface="Calibri" pitchFamily="34" charset="-120"/>
              </a:rPr>
              <a:t>lokales LLM</a:t>
            </a:r>
            <a:endParaRPr lang="en-US" sz="1250" dirty="0"/>
          </a:p>
        </p:txBody>
      </p:sp>
      <p:sp>
        <p:nvSpPr>
          <p:cNvPr id="24" name="Shape 22"/>
          <p:cNvSpPr/>
          <p:nvPr/>
        </p:nvSpPr>
        <p:spPr>
          <a:xfrm>
            <a:off x="8275320" y="3218688"/>
            <a:ext cx="3364992" cy="731520"/>
          </a:xfrm>
          <a:prstGeom prst="roundRect">
            <a:avLst>
              <a:gd name="adj" fmla="val 11250"/>
            </a:avLst>
          </a:prstGeom>
          <a:solidFill>
            <a:srgbClr val="F2F6F9"/>
          </a:solidFill>
          <a:ln w="19050">
            <a:solidFill>
              <a:srgbClr val="2F6DB5"/>
            </a:solidFill>
            <a:prstDash val="solid"/>
          </a:ln>
          <a:effectLst>
            <a:outerShdw sx="100000" sy="100000" kx="0" ky="0" algn="bl" rotWithShape="0" blurRad="114300" dist="38100" dir="2700000">
              <a:srgbClr val="0E2A3B">
                <a:alpha val="13000"/>
              </a:srgbClr>
            </a:outerShdw>
          </a:effectLst>
        </p:spPr>
      </p:sp>
      <p:sp>
        <p:nvSpPr>
          <p:cNvPr id="25" name="Shape 23"/>
          <p:cNvSpPr/>
          <p:nvPr/>
        </p:nvSpPr>
        <p:spPr>
          <a:xfrm>
            <a:off x="8494776" y="3502152"/>
            <a:ext cx="164592" cy="164592"/>
          </a:xfrm>
          <a:prstGeom prst="ellipse">
            <a:avLst/>
          </a:prstGeom>
          <a:solidFill>
            <a:srgbClr val="2F6DB5"/>
          </a:solidFill>
          <a:ln/>
        </p:spPr>
      </p:sp>
      <p:sp>
        <p:nvSpPr>
          <p:cNvPr id="26" name="Text 24"/>
          <p:cNvSpPr/>
          <p:nvPr/>
        </p:nvSpPr>
        <p:spPr>
          <a:xfrm>
            <a:off x="8778240" y="3364992"/>
            <a:ext cx="2724912" cy="384048"/>
          </a:xfrm>
          <a:prstGeom prst="rect">
            <a:avLst/>
          </a:prstGeom>
          <a:noFill/>
          <a:ln/>
        </p:spPr>
        <p:txBody>
          <a:bodyPr wrap="square" lIns="0" tIns="0" rIns="0" bIns="0" rtlCol="0" anchor="t"/>
          <a:lstStyle/>
          <a:p>
            <a:pPr indent="0" marL="0">
              <a:buNone/>
            </a:pPr>
            <a:r>
              <a:rPr lang="en-US" sz="1450" b="1" dirty="0">
                <a:solidFill>
                  <a:srgbClr val="13293D"/>
                </a:solidFill>
                <a:latin typeface="Cambria" pitchFamily="34" charset="0"/>
                <a:ea typeface="Cambria" pitchFamily="34" charset="-122"/>
                <a:cs typeface="Cambria" pitchFamily="34" charset="-120"/>
              </a:rPr>
              <a:t>yfinance · Finnhub</a:t>
            </a:r>
            <a:endParaRPr lang="en-US" sz="1450" dirty="0"/>
          </a:p>
        </p:txBody>
      </p:sp>
      <p:sp>
        <p:nvSpPr>
          <p:cNvPr id="27" name="Text 25"/>
          <p:cNvSpPr/>
          <p:nvPr/>
        </p:nvSpPr>
        <p:spPr>
          <a:xfrm>
            <a:off x="8778240" y="3730752"/>
            <a:ext cx="2724912" cy="320040"/>
          </a:xfrm>
          <a:prstGeom prst="rect">
            <a:avLst/>
          </a:prstGeom>
          <a:noFill/>
          <a:ln/>
        </p:spPr>
        <p:txBody>
          <a:bodyPr wrap="square" lIns="0" tIns="0" rIns="0" bIns="0" rtlCol="0" anchor="t"/>
          <a:lstStyle/>
          <a:p>
            <a:pPr indent="0" marL="0">
              <a:buNone/>
            </a:pPr>
            <a:r>
              <a:rPr lang="en-US" sz="1250" dirty="0">
                <a:solidFill>
                  <a:srgbClr val="5B7385"/>
                </a:solidFill>
                <a:latin typeface="Calibri" pitchFamily="34" charset="0"/>
                <a:ea typeface="Calibri" pitchFamily="34" charset="-122"/>
                <a:cs typeface="Calibri" pitchFamily="34" charset="-120"/>
              </a:rPr>
              <a:t>Kurse &amp; News</a:t>
            </a:r>
            <a:endParaRPr lang="en-US" sz="1250" dirty="0"/>
          </a:p>
        </p:txBody>
      </p:sp>
      <p:sp>
        <p:nvSpPr>
          <p:cNvPr id="28" name="Shape 26"/>
          <p:cNvSpPr/>
          <p:nvPr/>
        </p:nvSpPr>
        <p:spPr>
          <a:xfrm>
            <a:off x="548640" y="4261104"/>
            <a:ext cx="6720840" cy="1938528"/>
          </a:xfrm>
          <a:prstGeom prst="roundRect">
            <a:avLst>
              <a:gd name="adj" fmla="val 4245"/>
            </a:avLst>
          </a:prstGeom>
          <a:solidFill>
            <a:srgbClr val="E8EFF4"/>
          </a:solidFill>
          <a:ln/>
          <a:effectLst>
            <a:outerShdw sx="100000" sy="100000" kx="0" ky="0" algn="bl" rotWithShape="0" blurRad="114300" dist="38100" dir="2700000">
              <a:srgbClr val="0E2A3B">
                <a:alpha val="13000"/>
              </a:srgbClr>
            </a:outerShdw>
          </a:effectLst>
        </p:spPr>
      </p:sp>
      <p:sp>
        <p:nvSpPr>
          <p:cNvPr id="29" name="Text 27"/>
          <p:cNvSpPr/>
          <p:nvPr/>
        </p:nvSpPr>
        <p:spPr>
          <a:xfrm>
            <a:off x="841248" y="4462272"/>
            <a:ext cx="6217920" cy="411480"/>
          </a:xfrm>
          <a:prstGeom prst="rect">
            <a:avLst/>
          </a:prstGeom>
          <a:noFill/>
          <a:ln/>
        </p:spPr>
        <p:txBody>
          <a:bodyPr wrap="square" lIns="0" tIns="0" rIns="0" bIns="0" rtlCol="0" anchor="t"/>
          <a:lstStyle/>
          <a:p>
            <a:pPr indent="0" marL="0">
              <a:buNone/>
            </a:pPr>
            <a:r>
              <a:rPr lang="en-US" sz="1800" b="1" dirty="0">
                <a:solidFill>
                  <a:srgbClr val="0E2A3B"/>
                </a:solidFill>
                <a:latin typeface="Cambria" pitchFamily="34" charset="0"/>
                <a:ea typeface="Cambria" pitchFamily="34" charset="-122"/>
                <a:cs typeface="Cambria" pitchFamily="34" charset="-120"/>
              </a:rPr>
              <a:t>Wo sitzt die KI?</a:t>
            </a:r>
            <a:endParaRPr lang="en-US" sz="1800" dirty="0"/>
          </a:p>
        </p:txBody>
      </p:sp>
      <p:sp>
        <p:nvSpPr>
          <p:cNvPr id="30" name="Text 28"/>
          <p:cNvSpPr/>
          <p:nvPr/>
        </p:nvSpPr>
        <p:spPr>
          <a:xfrm>
            <a:off x="841248" y="4937760"/>
            <a:ext cx="6217920" cy="1143000"/>
          </a:xfrm>
          <a:prstGeom prst="rect">
            <a:avLst/>
          </a:prstGeom>
          <a:noFill/>
          <a:ln/>
        </p:spPr>
        <p:txBody>
          <a:bodyPr wrap="square" lIns="0" tIns="0" rIns="0" bIns="0" rtlCol="0" anchor="t"/>
          <a:lstStyle/>
          <a:p>
            <a:pPr indent="0" marL="0">
              <a:lnSpc>
                <a:spcPct val="115000"/>
              </a:lnSpc>
              <a:buNone/>
            </a:pPr>
            <a:r>
              <a:rPr lang="en-US" sz="1550" dirty="0">
                <a:solidFill>
                  <a:srgbClr val="13293D"/>
                </a:solidFill>
                <a:latin typeface="Calibri" pitchFamily="34" charset="0"/>
                <a:ea typeface="Calibri" pitchFamily="34" charset="-122"/>
                <a:cs typeface="Calibri" pitchFamily="34" charset="-120"/>
              </a:rPr>
              <a:t>An genau </a:t>
            </a:r>
            <a:pPr indent="0" marL="0">
              <a:lnSpc>
                <a:spcPct val="115000"/>
              </a:lnSpc>
              <a:buNone/>
            </a:pPr>
            <a:r>
              <a:rPr lang="en-US" sz="1550" b="1" dirty="0">
                <a:solidFill>
                  <a:srgbClr val="D9982B"/>
                </a:solidFill>
                <a:latin typeface="Calibri" pitchFamily="34" charset="0"/>
                <a:ea typeface="Calibri" pitchFamily="34" charset="-122"/>
                <a:cs typeface="Calibri" pitchFamily="34" charset="-120"/>
              </a:rPr>
              <a:t>einer</a:t>
            </a:r>
            <a:pPr indent="0" marL="0">
              <a:lnSpc>
                <a:spcPct val="115000"/>
              </a:lnSpc>
              <a:buNone/>
            </a:pPr>
            <a:r>
              <a:rPr lang="en-US" sz="1550" dirty="0">
                <a:solidFill>
                  <a:srgbClr val="13293D"/>
                </a:solidFill>
                <a:latin typeface="Calibri" pitchFamily="34" charset="0"/>
                <a:ea typeface="Calibri" pitchFamily="34" charset="-122"/>
                <a:cs typeface="Calibri" pitchFamily="34" charset="-120"/>
              </a:rPr>
              <a:t> Stelle — dem lokalen LLM. Alles andere (Daten holen, rechnen, screenen) ist klassischer, nachvollziehbarer Code.</a:t>
            </a:r>
            <a:endParaRPr lang="en-US" sz="1550" dirty="0"/>
          </a:p>
        </p:txBody>
      </p:sp>
      <p:sp>
        <p:nvSpPr>
          <p:cNvPr id="31" name="Shape 29"/>
          <p:cNvSpPr/>
          <p:nvPr/>
        </p:nvSpPr>
        <p:spPr>
          <a:xfrm>
            <a:off x="7498080" y="4261104"/>
            <a:ext cx="4142232" cy="1938528"/>
          </a:xfrm>
          <a:prstGeom prst="roundRect">
            <a:avLst>
              <a:gd name="adj" fmla="val 4245"/>
            </a:avLst>
          </a:prstGeom>
          <a:solidFill>
            <a:srgbClr val="0E2A3B"/>
          </a:solidFill>
          <a:ln/>
          <a:effectLst>
            <a:outerShdw sx="100000" sy="100000" kx="0" ky="0" algn="bl" rotWithShape="0" blurRad="114300" dist="38100" dir="2700000">
              <a:srgbClr val="0E2A3B">
                <a:alpha val="13000"/>
              </a:srgbClr>
            </a:outerShdw>
          </a:effectLst>
        </p:spPr>
      </p:sp>
      <p:sp>
        <p:nvSpPr>
          <p:cNvPr id="32" name="Text 30"/>
          <p:cNvSpPr/>
          <p:nvPr/>
        </p:nvSpPr>
        <p:spPr>
          <a:xfrm>
            <a:off x="7726680" y="4480560"/>
            <a:ext cx="3657600" cy="548640"/>
          </a:xfrm>
          <a:prstGeom prst="rect">
            <a:avLst/>
          </a:prstGeom>
          <a:noFill/>
          <a:ln/>
        </p:spPr>
        <p:txBody>
          <a:bodyPr wrap="square" lIns="0" tIns="0" rIns="0" bIns="0" rtlCol="0" anchor="t"/>
          <a:lstStyle/>
          <a:p>
            <a:pPr indent="0" marL="0">
              <a:buNone/>
            </a:pPr>
            <a:r>
              <a:rPr lang="en-US" sz="2600" b="1" dirty="0">
                <a:solidFill>
                  <a:srgbClr val="2EC4B6"/>
                </a:solidFill>
                <a:latin typeface="Cambria" pitchFamily="34" charset="0"/>
                <a:ea typeface="Cambria" pitchFamily="34" charset="-122"/>
                <a:cs typeface="Cambria" pitchFamily="34" charset="-120"/>
              </a:rPr>
              <a:t>100% lokal</a:t>
            </a:r>
            <a:endParaRPr lang="en-US" sz="2600" dirty="0"/>
          </a:p>
        </p:txBody>
      </p:sp>
      <p:sp>
        <p:nvSpPr>
          <p:cNvPr id="33" name="Text 31"/>
          <p:cNvSpPr/>
          <p:nvPr/>
        </p:nvSpPr>
        <p:spPr>
          <a:xfrm>
            <a:off x="7726680" y="5120640"/>
            <a:ext cx="3703320" cy="960120"/>
          </a:xfrm>
          <a:prstGeom prst="rect">
            <a:avLst/>
          </a:prstGeom>
          <a:noFill/>
          <a:ln/>
        </p:spPr>
        <p:txBody>
          <a:bodyPr wrap="square" lIns="0" tIns="0" rIns="0" bIns="0" rtlCol="0" anchor="t"/>
          <a:lstStyle/>
          <a:p>
            <a:pPr indent="0" marL="0">
              <a:lnSpc>
                <a:spcPct val="112000"/>
              </a:lnSpc>
              <a:buNone/>
            </a:pPr>
            <a:r>
              <a:rPr lang="en-US" sz="1400" dirty="0">
                <a:solidFill>
                  <a:srgbClr val="EAF2F7"/>
                </a:solidFill>
                <a:latin typeface="Calibri" pitchFamily="34" charset="0"/>
                <a:ea typeface="Calibri" pitchFamily="34" charset="-122"/>
                <a:cs typeface="Calibri" pitchFamily="34" charset="-120"/>
              </a:rPr>
              <a:t>Läuft auf einem MacBook. Marktdaten kommen von außen, aber die Analyse &amp; das LLM bleiben auf dem Gerät.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515600" cy="594360"/>
          </a:xfrm>
          <a:prstGeom prst="rect">
            <a:avLst/>
          </a:prstGeom>
          <a:noFill/>
          <a:ln/>
        </p:spPr>
        <p:txBody>
          <a:bodyPr wrap="square" lIns="0" tIns="0" rIns="0" bIns="0" rtlCol="0" anchor="t"/>
          <a:lstStyle/>
          <a:p>
            <a:pPr indent="0" marL="0">
              <a:buNone/>
            </a:pPr>
            <a:r>
              <a:rPr lang="en-US" sz="3200" b="1" dirty="0">
                <a:solidFill>
                  <a:srgbClr val="0E2A3B"/>
                </a:solidFill>
                <a:latin typeface="Cambria" pitchFamily="34" charset="0"/>
                <a:ea typeface="Cambria" pitchFamily="34" charset="-122"/>
                <a:cs typeface="Cambria" pitchFamily="34" charset="-120"/>
              </a:rPr>
              <a:t>Wie der Agent arbeitet</a:t>
            </a:r>
            <a:endParaRPr lang="en-US" sz="3200" dirty="0"/>
          </a:p>
        </p:txBody>
      </p:sp>
      <p:sp>
        <p:nvSpPr>
          <p:cNvPr id="3" name="Text 1"/>
          <p:cNvSpPr/>
          <p:nvPr/>
        </p:nvSpPr>
        <p:spPr>
          <a:xfrm>
            <a:off x="566928" y="969264"/>
            <a:ext cx="11155680" cy="411480"/>
          </a:xfrm>
          <a:prstGeom prst="rect">
            <a:avLst/>
          </a:prstGeom>
          <a:noFill/>
          <a:ln/>
        </p:spPr>
        <p:txBody>
          <a:bodyPr wrap="square" lIns="0" tIns="0" rIns="0" bIns="0" rtlCol="0" anchor="t"/>
          <a:lstStyle/>
          <a:p>
            <a:pPr indent="0" marL="0">
              <a:buNone/>
            </a:pPr>
            <a:r>
              <a:rPr lang="en-US" sz="1600" dirty="0">
                <a:solidFill>
                  <a:srgbClr val="1C7293"/>
                </a:solidFill>
                <a:latin typeface="Cambria" pitchFamily="34" charset="0"/>
                <a:ea typeface="Cambria" pitchFamily="34" charset="-122"/>
                <a:cs typeface="Cambria" pitchFamily="34" charset="-120"/>
              </a:rPr>
              <a:t>Eine Frage → die KI entscheidet den Weg und nutzt selbst die passenden Werkzeuge (jeder Schritt sichtbar)</a:t>
            </a:r>
            <a:endParaRPr lang="en-US" sz="1600" dirty="0"/>
          </a:p>
        </p:txBody>
      </p:sp>
      <p:sp>
        <p:nvSpPr>
          <p:cNvPr id="4" name="Shape 2"/>
          <p:cNvSpPr/>
          <p:nvPr/>
        </p:nvSpPr>
        <p:spPr>
          <a:xfrm>
            <a:off x="4270248" y="1481328"/>
            <a:ext cx="3657600" cy="475488"/>
          </a:xfrm>
          <a:prstGeom prst="roundRect">
            <a:avLst>
              <a:gd name="adj" fmla="val 48077"/>
            </a:avLst>
          </a:prstGeom>
          <a:solidFill>
            <a:srgbClr val="0E2A3B"/>
          </a:solidFill>
          <a:ln/>
        </p:spPr>
      </p:sp>
      <p:sp>
        <p:nvSpPr>
          <p:cNvPr id="5" name="Text 3"/>
          <p:cNvSpPr/>
          <p:nvPr/>
        </p:nvSpPr>
        <p:spPr>
          <a:xfrm>
            <a:off x="4270248" y="1481328"/>
            <a:ext cx="3657600" cy="475488"/>
          </a:xfrm>
          <a:prstGeom prst="rect">
            <a:avLst/>
          </a:prstGeom>
          <a:noFill/>
          <a:ln/>
        </p:spPr>
        <p:txBody>
          <a:bodyPr wrap="square" lIns="0" tIns="0" rIns="0" bIns="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Frage in Klarsprache</a:t>
            </a:r>
            <a:endParaRPr lang="en-US" sz="1350" dirty="0"/>
          </a:p>
        </p:txBody>
      </p:sp>
      <p:sp>
        <p:nvSpPr>
          <p:cNvPr id="6" name="Shape 4"/>
          <p:cNvSpPr/>
          <p:nvPr/>
        </p:nvSpPr>
        <p:spPr>
          <a:xfrm>
            <a:off x="6089904" y="1975104"/>
            <a:ext cx="0" cy="256032"/>
          </a:xfrm>
          <a:prstGeom prst="line">
            <a:avLst/>
          </a:prstGeom>
          <a:noFill/>
          <a:ln w="28575">
            <a:solidFill>
              <a:srgbClr val="1C7293"/>
            </a:solidFill>
            <a:prstDash val="solid"/>
            <a:tailEnd type="triangle"/>
          </a:ln>
        </p:spPr>
      </p:sp>
      <p:sp>
        <p:nvSpPr>
          <p:cNvPr id="7" name="Shape 5"/>
          <p:cNvSpPr/>
          <p:nvPr/>
        </p:nvSpPr>
        <p:spPr>
          <a:xfrm>
            <a:off x="3657600" y="2286000"/>
            <a:ext cx="4873752" cy="603504"/>
          </a:xfrm>
          <a:prstGeom prst="roundRect">
            <a:avLst>
              <a:gd name="adj" fmla="val 13636"/>
            </a:avLst>
          </a:prstGeom>
          <a:solidFill>
            <a:srgbClr val="D9982B"/>
          </a:solidFill>
          <a:ln/>
          <a:effectLst>
            <a:outerShdw sx="100000" sy="100000" kx="0" ky="0" algn="bl" rotWithShape="0" blurRad="114300" dist="38100" dir="2700000">
              <a:srgbClr val="0E2A3B">
                <a:alpha val="13000"/>
              </a:srgbClr>
            </a:outerShdw>
          </a:effectLst>
        </p:spPr>
      </p:sp>
      <p:sp>
        <p:nvSpPr>
          <p:cNvPr id="8" name="Text 6"/>
          <p:cNvSpPr/>
          <p:nvPr/>
        </p:nvSpPr>
        <p:spPr>
          <a:xfrm>
            <a:off x="3657600" y="2286000"/>
            <a:ext cx="4873752" cy="603504"/>
          </a:xfrm>
          <a:prstGeom prst="rect">
            <a:avLst/>
          </a:prstGeom>
          <a:noFill/>
          <a:ln/>
        </p:spPr>
        <p:txBody>
          <a:bodyPr wrap="square" lIns="0" tIns="0" rIns="0" bIns="0" rtlCol="0" anchor="ctr"/>
          <a:lstStyle/>
          <a:p>
            <a:pPr algn="ctr" indent="0" marL="0">
              <a:buNone/>
            </a:pPr>
            <a:r>
              <a:rPr lang="en-US" sz="1550" b="1" dirty="0">
                <a:solidFill>
                  <a:srgbClr val="3A2B07"/>
                </a:solidFill>
                <a:latin typeface="Cambria" pitchFamily="34" charset="0"/>
                <a:ea typeface="Cambria" pitchFamily="34" charset="-122"/>
                <a:cs typeface="Cambria" pitchFamily="34" charset="-120"/>
              </a:rPr>
              <a:t>Die KI versteht die Frage &amp; wählt den Weg</a:t>
            </a:r>
            <a:endParaRPr lang="en-US" sz="1550" dirty="0"/>
          </a:p>
        </p:txBody>
      </p:sp>
      <p:sp>
        <p:nvSpPr>
          <p:cNvPr id="9" name="Shape 7"/>
          <p:cNvSpPr/>
          <p:nvPr/>
        </p:nvSpPr>
        <p:spPr>
          <a:xfrm>
            <a:off x="6089904" y="2907792"/>
            <a:ext cx="-3657600" cy="658368"/>
          </a:xfrm>
          <a:prstGeom prst="line">
            <a:avLst/>
          </a:prstGeom>
          <a:noFill/>
          <a:ln w="28575">
            <a:solidFill>
              <a:srgbClr val="2F6DB5"/>
            </a:solidFill>
            <a:prstDash val="solid"/>
            <a:tailEnd type="triangle"/>
          </a:ln>
        </p:spPr>
      </p:sp>
      <p:sp>
        <p:nvSpPr>
          <p:cNvPr id="10" name="Shape 8"/>
          <p:cNvSpPr/>
          <p:nvPr/>
        </p:nvSpPr>
        <p:spPr>
          <a:xfrm>
            <a:off x="6089904" y="2907792"/>
            <a:ext cx="0" cy="658368"/>
          </a:xfrm>
          <a:prstGeom prst="line">
            <a:avLst/>
          </a:prstGeom>
          <a:noFill/>
          <a:ln w="28575">
            <a:solidFill>
              <a:srgbClr val="D9982B"/>
            </a:solidFill>
            <a:prstDash val="solid"/>
            <a:tailEnd type="triangle"/>
          </a:ln>
        </p:spPr>
      </p:sp>
      <p:sp>
        <p:nvSpPr>
          <p:cNvPr id="11" name="Shape 9"/>
          <p:cNvSpPr/>
          <p:nvPr/>
        </p:nvSpPr>
        <p:spPr>
          <a:xfrm>
            <a:off x="6089904" y="2907792"/>
            <a:ext cx="3657600" cy="658368"/>
          </a:xfrm>
          <a:prstGeom prst="line">
            <a:avLst/>
          </a:prstGeom>
          <a:noFill/>
          <a:ln w="28575">
            <a:solidFill>
              <a:srgbClr val="2F6DB5"/>
            </a:solidFill>
            <a:prstDash val="solid"/>
            <a:tailEnd type="triangle"/>
          </a:ln>
        </p:spPr>
      </p:sp>
      <p:sp>
        <p:nvSpPr>
          <p:cNvPr id="12" name="Shape 10"/>
          <p:cNvSpPr/>
          <p:nvPr/>
        </p:nvSpPr>
        <p:spPr>
          <a:xfrm>
            <a:off x="566928" y="3611880"/>
            <a:ext cx="3611880" cy="1481328"/>
          </a:xfrm>
          <a:prstGeom prst="roundRect">
            <a:avLst>
              <a:gd name="adj" fmla="val 5556"/>
            </a:avLst>
          </a:prstGeom>
          <a:solidFill>
            <a:srgbClr val="F2F6F9"/>
          </a:solidFill>
          <a:ln w="19050">
            <a:solidFill>
              <a:srgbClr val="2F6DB5"/>
            </a:solidFill>
            <a:prstDash val="solid"/>
          </a:ln>
          <a:effectLst>
            <a:outerShdw sx="100000" sy="100000" kx="0" ky="0" algn="bl" rotWithShape="0" blurRad="114300" dist="38100" dir="2700000">
              <a:srgbClr val="0E2A3B">
                <a:alpha val="13000"/>
              </a:srgbClr>
            </a:outerShdw>
          </a:effectLst>
        </p:spPr>
      </p:sp>
      <p:sp>
        <p:nvSpPr>
          <p:cNvPr id="13" name="Shape 11"/>
          <p:cNvSpPr/>
          <p:nvPr/>
        </p:nvSpPr>
        <p:spPr>
          <a:xfrm>
            <a:off x="786384" y="3849624"/>
            <a:ext cx="146304" cy="146304"/>
          </a:xfrm>
          <a:prstGeom prst="ellipse">
            <a:avLst/>
          </a:prstGeom>
          <a:solidFill>
            <a:srgbClr val="2F6DB5"/>
          </a:solidFill>
          <a:ln/>
        </p:spPr>
      </p:sp>
      <p:sp>
        <p:nvSpPr>
          <p:cNvPr id="14" name="Text 12"/>
          <p:cNvSpPr/>
          <p:nvPr/>
        </p:nvSpPr>
        <p:spPr>
          <a:xfrm>
            <a:off x="1024128" y="3749040"/>
            <a:ext cx="2971800" cy="365760"/>
          </a:xfrm>
          <a:prstGeom prst="rect">
            <a:avLst/>
          </a:prstGeom>
          <a:noFill/>
          <a:ln/>
        </p:spPr>
        <p:txBody>
          <a:bodyPr wrap="square" lIns="0" tIns="0" rIns="0" bIns="0" rtlCol="0" anchor="t"/>
          <a:lstStyle/>
          <a:p>
            <a:pPr indent="0" marL="0">
              <a:buNone/>
            </a:pPr>
            <a:r>
              <a:rPr lang="en-US" sz="1500" b="1" dirty="0">
                <a:solidFill>
                  <a:srgbClr val="13293D"/>
                </a:solidFill>
                <a:latin typeface="Cambria" pitchFamily="34" charset="0"/>
                <a:ea typeface="Cambria" pitchFamily="34" charset="-122"/>
                <a:cs typeface="Cambria" pitchFamily="34" charset="-120"/>
              </a:rPr>
              <a:t>Unternehmen finden</a:t>
            </a:r>
            <a:endParaRPr lang="en-US" sz="1500" dirty="0"/>
          </a:p>
        </p:txBody>
      </p:sp>
      <p:sp>
        <p:nvSpPr>
          <p:cNvPr id="15" name="Text 13"/>
          <p:cNvSpPr/>
          <p:nvPr/>
        </p:nvSpPr>
        <p:spPr>
          <a:xfrm>
            <a:off x="822960" y="4178808"/>
            <a:ext cx="3154680" cy="822960"/>
          </a:xfrm>
          <a:prstGeom prst="rect">
            <a:avLst/>
          </a:prstGeom>
          <a:noFill/>
          <a:ln/>
        </p:spPr>
        <p:txBody>
          <a:bodyPr wrap="square" lIns="0" tIns="0" rIns="0" bIns="0" rtlCol="0" anchor="t"/>
          <a:lstStyle/>
          <a:p>
            <a:pPr indent="0" marL="0">
              <a:lnSpc>
                <a:spcPct val="108000"/>
              </a:lnSpc>
              <a:buNone/>
            </a:pPr>
            <a:r>
              <a:rPr lang="en-US" sz="1250" dirty="0">
                <a:solidFill>
                  <a:srgbClr val="5B7385"/>
                </a:solidFill>
                <a:latin typeface="Calibri" pitchFamily="34" charset="0"/>
                <a:ea typeface="Calibri" pitchFamily="34" charset="-122"/>
                <a:cs typeface="Calibri" pitchFamily="34" charset="-120"/>
              </a:rPr>
              <a:t>Aus einer Strategie passende Aktien filtern — ein klarer, deterministischer Filter.</a:t>
            </a:r>
            <a:endParaRPr lang="en-US" sz="1250" dirty="0"/>
          </a:p>
        </p:txBody>
      </p:sp>
      <p:sp>
        <p:nvSpPr>
          <p:cNvPr id="16" name="Shape 14"/>
          <p:cNvSpPr/>
          <p:nvPr/>
        </p:nvSpPr>
        <p:spPr>
          <a:xfrm>
            <a:off x="4288536" y="3611880"/>
            <a:ext cx="3611880" cy="1481328"/>
          </a:xfrm>
          <a:prstGeom prst="roundRect">
            <a:avLst>
              <a:gd name="adj" fmla="val 5556"/>
            </a:avLst>
          </a:prstGeom>
          <a:solidFill>
            <a:srgbClr val="F2F6F9"/>
          </a:solidFill>
          <a:ln w="19050">
            <a:solidFill>
              <a:srgbClr val="D9982B"/>
            </a:solidFill>
            <a:prstDash val="solid"/>
          </a:ln>
          <a:effectLst>
            <a:outerShdw sx="100000" sy="100000" kx="0" ky="0" algn="bl" rotWithShape="0" blurRad="114300" dist="38100" dir="2700000">
              <a:srgbClr val="0E2A3B">
                <a:alpha val="13000"/>
              </a:srgbClr>
            </a:outerShdw>
          </a:effectLst>
        </p:spPr>
      </p:sp>
      <p:sp>
        <p:nvSpPr>
          <p:cNvPr id="17" name="Shape 15"/>
          <p:cNvSpPr/>
          <p:nvPr/>
        </p:nvSpPr>
        <p:spPr>
          <a:xfrm>
            <a:off x="4507992" y="3849624"/>
            <a:ext cx="146304" cy="146304"/>
          </a:xfrm>
          <a:prstGeom prst="ellipse">
            <a:avLst/>
          </a:prstGeom>
          <a:solidFill>
            <a:srgbClr val="D9982B"/>
          </a:solidFill>
          <a:ln/>
        </p:spPr>
      </p:sp>
      <p:sp>
        <p:nvSpPr>
          <p:cNvPr id="18" name="Text 16"/>
          <p:cNvSpPr/>
          <p:nvPr/>
        </p:nvSpPr>
        <p:spPr>
          <a:xfrm>
            <a:off x="4745736" y="3749040"/>
            <a:ext cx="2971800" cy="365760"/>
          </a:xfrm>
          <a:prstGeom prst="rect">
            <a:avLst/>
          </a:prstGeom>
          <a:noFill/>
          <a:ln/>
        </p:spPr>
        <p:txBody>
          <a:bodyPr wrap="square" lIns="0" tIns="0" rIns="0" bIns="0" rtlCol="0" anchor="t"/>
          <a:lstStyle/>
          <a:p>
            <a:pPr indent="0" marL="0">
              <a:buNone/>
            </a:pPr>
            <a:r>
              <a:rPr lang="en-US" sz="1500" b="1" dirty="0">
                <a:solidFill>
                  <a:srgbClr val="13293D"/>
                </a:solidFill>
                <a:latin typeface="Cambria" pitchFamily="34" charset="0"/>
                <a:ea typeface="Cambria" pitchFamily="34" charset="-122"/>
                <a:cs typeface="Cambria" pitchFamily="34" charset="-120"/>
              </a:rPr>
              <a:t>News bewerten</a:t>
            </a:r>
            <a:endParaRPr lang="en-US" sz="1500" dirty="0"/>
          </a:p>
        </p:txBody>
      </p:sp>
      <p:sp>
        <p:nvSpPr>
          <p:cNvPr id="19" name="Text 17"/>
          <p:cNvSpPr/>
          <p:nvPr/>
        </p:nvSpPr>
        <p:spPr>
          <a:xfrm>
            <a:off x="4544568" y="4178808"/>
            <a:ext cx="3154680" cy="822960"/>
          </a:xfrm>
          <a:prstGeom prst="rect">
            <a:avLst/>
          </a:prstGeom>
          <a:noFill/>
          <a:ln/>
        </p:spPr>
        <p:txBody>
          <a:bodyPr wrap="square" lIns="0" tIns="0" rIns="0" bIns="0" rtlCol="0" anchor="t"/>
          <a:lstStyle/>
          <a:p>
            <a:pPr indent="0" marL="0">
              <a:lnSpc>
                <a:spcPct val="108000"/>
              </a:lnSpc>
              <a:buNone/>
            </a:pPr>
            <a:r>
              <a:rPr lang="en-US" sz="1250" dirty="0">
                <a:solidFill>
                  <a:srgbClr val="5B7385"/>
                </a:solidFill>
                <a:latin typeface="Calibri" pitchFamily="34" charset="0"/>
                <a:ea typeface="Calibri" pitchFamily="34" charset="-122"/>
                <a:cs typeface="Calibri" pitchFamily="34" charset="-120"/>
              </a:rPr>
              <a:t>Vorgefilterte Schlagzeilen — die KI urteilt selbst und muss dafür echte Belege zitieren.</a:t>
            </a:r>
            <a:endParaRPr lang="en-US" sz="1250" dirty="0"/>
          </a:p>
        </p:txBody>
      </p:sp>
      <p:sp>
        <p:nvSpPr>
          <p:cNvPr id="20" name="Shape 18"/>
          <p:cNvSpPr/>
          <p:nvPr/>
        </p:nvSpPr>
        <p:spPr>
          <a:xfrm>
            <a:off x="8010144" y="3611880"/>
            <a:ext cx="3611880" cy="1481328"/>
          </a:xfrm>
          <a:prstGeom prst="roundRect">
            <a:avLst>
              <a:gd name="adj" fmla="val 5556"/>
            </a:avLst>
          </a:prstGeom>
          <a:solidFill>
            <a:srgbClr val="F2F6F9"/>
          </a:solidFill>
          <a:ln w="19050">
            <a:solidFill>
              <a:srgbClr val="2F6DB5"/>
            </a:solidFill>
            <a:prstDash val="solid"/>
          </a:ln>
          <a:effectLst>
            <a:outerShdw sx="100000" sy="100000" kx="0" ky="0" algn="bl" rotWithShape="0" blurRad="114300" dist="38100" dir="2700000">
              <a:srgbClr val="0E2A3B">
                <a:alpha val="13000"/>
              </a:srgbClr>
            </a:outerShdw>
          </a:effectLst>
        </p:spPr>
      </p:sp>
      <p:sp>
        <p:nvSpPr>
          <p:cNvPr id="21" name="Shape 19"/>
          <p:cNvSpPr/>
          <p:nvPr/>
        </p:nvSpPr>
        <p:spPr>
          <a:xfrm>
            <a:off x="8229600" y="3849624"/>
            <a:ext cx="146304" cy="146304"/>
          </a:xfrm>
          <a:prstGeom prst="ellipse">
            <a:avLst/>
          </a:prstGeom>
          <a:solidFill>
            <a:srgbClr val="2F6DB5"/>
          </a:solidFill>
          <a:ln/>
        </p:spPr>
      </p:sp>
      <p:sp>
        <p:nvSpPr>
          <p:cNvPr id="22" name="Text 20"/>
          <p:cNvSpPr/>
          <p:nvPr/>
        </p:nvSpPr>
        <p:spPr>
          <a:xfrm>
            <a:off x="8421624" y="3749040"/>
            <a:ext cx="3017520" cy="365760"/>
          </a:xfrm>
          <a:prstGeom prst="rect">
            <a:avLst/>
          </a:prstGeom>
          <a:noFill/>
          <a:ln/>
        </p:spPr>
        <p:txBody>
          <a:bodyPr wrap="square" lIns="0" tIns="0" rIns="0" bIns="0" rtlCol="0" anchor="t"/>
          <a:lstStyle/>
          <a:p>
            <a:pPr indent="0" marL="0">
              <a:buNone/>
            </a:pPr>
            <a:r>
              <a:rPr lang="en-US" sz="1500" b="1" dirty="0">
                <a:solidFill>
                  <a:srgbClr val="13293D"/>
                </a:solidFill>
                <a:latin typeface="Cambria" pitchFamily="34" charset="0"/>
                <a:ea typeface="Cambria" pitchFamily="34" charset="-122"/>
                <a:cs typeface="Cambria" pitchFamily="34" charset="-120"/>
              </a:rPr>
              <a:t>Rechnen &amp; prognostizieren</a:t>
            </a:r>
            <a:endParaRPr lang="en-US" sz="1500" dirty="0"/>
          </a:p>
        </p:txBody>
      </p:sp>
      <p:sp>
        <p:nvSpPr>
          <p:cNvPr id="23" name="Text 21"/>
          <p:cNvSpPr/>
          <p:nvPr/>
        </p:nvSpPr>
        <p:spPr>
          <a:xfrm>
            <a:off x="8266176" y="4178808"/>
            <a:ext cx="3154680" cy="822960"/>
          </a:xfrm>
          <a:prstGeom prst="rect">
            <a:avLst/>
          </a:prstGeom>
          <a:noFill/>
          <a:ln/>
        </p:spPr>
        <p:txBody>
          <a:bodyPr wrap="square" lIns="0" tIns="0" rIns="0" bIns="0" rtlCol="0" anchor="t"/>
          <a:lstStyle/>
          <a:p>
            <a:pPr indent="0" marL="0">
              <a:lnSpc>
                <a:spcPct val="108000"/>
              </a:lnSpc>
              <a:buNone/>
            </a:pPr>
            <a:r>
              <a:rPr lang="en-US" sz="1250" dirty="0">
                <a:solidFill>
                  <a:srgbClr val="5B7385"/>
                </a:solidFill>
                <a:latin typeface="Calibri" pitchFamily="34" charset="0"/>
                <a:ea typeface="Calibri" pitchFamily="34" charset="-122"/>
                <a:cs typeface="Calibri" pitchFamily="34" charset="-120"/>
              </a:rPr>
              <a:t>Trend, Indikatoren und Zeitreihen-Prognose — nachvollziehbare Mathematik, ehrliche Unsicherheit.</a:t>
            </a:r>
            <a:endParaRPr lang="en-US" sz="1250" dirty="0"/>
          </a:p>
        </p:txBody>
      </p:sp>
      <p:sp>
        <p:nvSpPr>
          <p:cNvPr id="24" name="Shape 22"/>
          <p:cNvSpPr/>
          <p:nvPr/>
        </p:nvSpPr>
        <p:spPr>
          <a:xfrm>
            <a:off x="2377440" y="5093208"/>
            <a:ext cx="3566160" cy="329184"/>
          </a:xfrm>
          <a:prstGeom prst="line">
            <a:avLst/>
          </a:prstGeom>
          <a:noFill/>
          <a:ln w="28575">
            <a:solidFill>
              <a:srgbClr val="2F6DB5"/>
            </a:solidFill>
            <a:prstDash val="solid"/>
            <a:tailEnd type="triangle"/>
          </a:ln>
        </p:spPr>
      </p:sp>
      <p:sp>
        <p:nvSpPr>
          <p:cNvPr id="25" name="Shape 23"/>
          <p:cNvSpPr/>
          <p:nvPr/>
        </p:nvSpPr>
        <p:spPr>
          <a:xfrm>
            <a:off x="6089904" y="5093208"/>
            <a:ext cx="0" cy="329184"/>
          </a:xfrm>
          <a:prstGeom prst="line">
            <a:avLst/>
          </a:prstGeom>
          <a:noFill/>
          <a:ln w="28575">
            <a:solidFill>
              <a:srgbClr val="D9982B"/>
            </a:solidFill>
            <a:prstDash val="solid"/>
            <a:tailEnd type="triangle"/>
          </a:ln>
        </p:spPr>
      </p:sp>
      <p:sp>
        <p:nvSpPr>
          <p:cNvPr id="26" name="Shape 24"/>
          <p:cNvSpPr/>
          <p:nvPr/>
        </p:nvSpPr>
        <p:spPr>
          <a:xfrm>
            <a:off x="9811512" y="5093208"/>
            <a:ext cx="-3566160" cy="329184"/>
          </a:xfrm>
          <a:prstGeom prst="line">
            <a:avLst/>
          </a:prstGeom>
          <a:noFill/>
          <a:ln w="28575">
            <a:solidFill>
              <a:srgbClr val="2F6DB5"/>
            </a:solidFill>
            <a:prstDash val="solid"/>
            <a:tailEnd type="triangle"/>
          </a:ln>
        </p:spPr>
      </p:sp>
      <p:sp>
        <p:nvSpPr>
          <p:cNvPr id="27" name="Shape 25"/>
          <p:cNvSpPr/>
          <p:nvPr/>
        </p:nvSpPr>
        <p:spPr>
          <a:xfrm>
            <a:off x="3200400" y="5468112"/>
            <a:ext cx="5788152" cy="512064"/>
          </a:xfrm>
          <a:prstGeom prst="roundRect">
            <a:avLst>
              <a:gd name="adj" fmla="val 44643"/>
            </a:avLst>
          </a:prstGeom>
          <a:solidFill>
            <a:srgbClr val="0E2A3B"/>
          </a:solidFill>
          <a:ln/>
        </p:spPr>
      </p:sp>
      <p:sp>
        <p:nvSpPr>
          <p:cNvPr id="28" name="Text 26"/>
          <p:cNvSpPr/>
          <p:nvPr/>
        </p:nvSpPr>
        <p:spPr>
          <a:xfrm>
            <a:off x="3200400" y="5468112"/>
            <a:ext cx="578815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Fasst zusammen &amp; erklärt — jeder Schritt sichtbar</a:t>
            </a:r>
            <a:endParaRPr lang="en-US" sz="1450" dirty="0"/>
          </a:p>
        </p:txBody>
      </p:sp>
      <p:sp>
        <p:nvSpPr>
          <p:cNvPr id="29" name="Text 27"/>
          <p:cNvSpPr/>
          <p:nvPr/>
        </p:nvSpPr>
        <p:spPr>
          <a:xfrm>
            <a:off x="566928" y="6199632"/>
            <a:ext cx="8778240" cy="411480"/>
          </a:xfrm>
          <a:prstGeom prst="rect">
            <a:avLst/>
          </a:prstGeom>
          <a:noFill/>
          <a:ln/>
        </p:spPr>
        <p:txBody>
          <a:bodyPr wrap="square" lIns="0" tIns="0" rIns="0" bIns="0" rtlCol="0" anchor="ctr"/>
          <a:lstStyle/>
          <a:p>
            <a:pPr indent="0" marL="0">
              <a:buNone/>
            </a:pPr>
            <a:r>
              <a:rPr lang="en-US" sz="1300" b="1" dirty="0">
                <a:solidFill>
                  <a:srgbClr val="2F6DB5"/>
                </a:solidFill>
                <a:latin typeface="Calibri" pitchFamily="34" charset="0"/>
                <a:ea typeface="Calibri" pitchFamily="34" charset="-122"/>
                <a:cs typeface="Calibri" pitchFamily="34" charset="-120"/>
              </a:rPr>
              <a:t>Blau = klare Rechenwege (reproduzierbar).  </a:t>
            </a:r>
            <a:pPr indent="0" marL="0">
              <a:buNone/>
            </a:pPr>
            <a:r>
              <a:rPr lang="en-US" sz="1300" b="1" dirty="0">
                <a:solidFill>
                  <a:srgbClr val="9C6A12"/>
                </a:solidFill>
                <a:latin typeface="Calibri" pitchFamily="34" charset="0"/>
                <a:ea typeface="Calibri" pitchFamily="34" charset="-122"/>
                <a:cs typeface="Calibri" pitchFamily="34" charset="-120"/>
              </a:rPr>
              <a:t>Gelb = die KI urteilt — nur über vorgefilterte Daten, mit Belegen.</a:t>
            </a:r>
            <a:endParaRPr lang="en-US" sz="1300" dirty="0"/>
          </a:p>
        </p:txBody>
      </p:sp>
      <p:sp>
        <p:nvSpPr>
          <p:cNvPr id="30" name="Shape 28"/>
          <p:cNvSpPr/>
          <p:nvPr/>
        </p:nvSpPr>
        <p:spPr>
          <a:xfrm>
            <a:off x="9692640" y="6272784"/>
            <a:ext cx="155448" cy="155448"/>
          </a:xfrm>
          <a:prstGeom prst="ellipse">
            <a:avLst/>
          </a:prstGeom>
          <a:solidFill>
            <a:srgbClr val="2F6DB5"/>
          </a:solidFill>
          <a:ln/>
        </p:spPr>
      </p:sp>
      <p:sp>
        <p:nvSpPr>
          <p:cNvPr id="31" name="Text 29"/>
          <p:cNvSpPr/>
          <p:nvPr/>
        </p:nvSpPr>
        <p:spPr>
          <a:xfrm>
            <a:off x="9902952" y="6199632"/>
            <a:ext cx="1554480" cy="292608"/>
          </a:xfrm>
          <a:prstGeom prst="rect">
            <a:avLst/>
          </a:prstGeom>
          <a:noFill/>
          <a:ln/>
        </p:spPr>
        <p:txBody>
          <a:bodyPr wrap="square" lIns="0" tIns="0" rIns="0" bIns="0" rtlCol="0" anchor="ctr"/>
          <a:lstStyle/>
          <a:p>
            <a:pPr indent="0" marL="0">
              <a:buNone/>
            </a:pPr>
            <a:r>
              <a:rPr lang="en-US" sz="1100" dirty="0">
                <a:solidFill>
                  <a:srgbClr val="5B7385"/>
                </a:solidFill>
                <a:latin typeface="Calibri" pitchFamily="34" charset="0"/>
                <a:ea typeface="Calibri" pitchFamily="34" charset="-122"/>
                <a:cs typeface="Calibri" pitchFamily="34" charset="-120"/>
              </a:rPr>
              <a:t>klare Rechnung</a:t>
            </a:r>
            <a:endParaRPr lang="en-US" sz="1100" dirty="0"/>
          </a:p>
        </p:txBody>
      </p:sp>
      <p:sp>
        <p:nvSpPr>
          <p:cNvPr id="32" name="Shape 30"/>
          <p:cNvSpPr/>
          <p:nvPr/>
        </p:nvSpPr>
        <p:spPr>
          <a:xfrm>
            <a:off x="9692640" y="6510528"/>
            <a:ext cx="155448" cy="155448"/>
          </a:xfrm>
          <a:prstGeom prst="ellipse">
            <a:avLst/>
          </a:prstGeom>
          <a:solidFill>
            <a:srgbClr val="D9982B"/>
          </a:solidFill>
          <a:ln/>
        </p:spPr>
      </p:sp>
      <p:sp>
        <p:nvSpPr>
          <p:cNvPr id="33" name="Text 31"/>
          <p:cNvSpPr/>
          <p:nvPr/>
        </p:nvSpPr>
        <p:spPr>
          <a:xfrm>
            <a:off x="9902952" y="6437376"/>
            <a:ext cx="1554480" cy="292608"/>
          </a:xfrm>
          <a:prstGeom prst="rect">
            <a:avLst/>
          </a:prstGeom>
          <a:noFill/>
          <a:ln/>
        </p:spPr>
        <p:txBody>
          <a:bodyPr wrap="square" lIns="0" tIns="0" rIns="0" bIns="0" rtlCol="0" anchor="ctr"/>
          <a:lstStyle/>
          <a:p>
            <a:pPr indent="0" marL="0">
              <a:buNone/>
            </a:pPr>
            <a:r>
              <a:rPr lang="en-US" sz="1100" dirty="0">
                <a:solidFill>
                  <a:srgbClr val="5B7385"/>
                </a:solidFill>
                <a:latin typeface="Calibri" pitchFamily="34" charset="0"/>
                <a:ea typeface="Calibri" pitchFamily="34" charset="-122"/>
                <a:cs typeface="Calibri" pitchFamily="34" charset="-120"/>
              </a:rPr>
              <a:t>KI-Urteil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lIns="0" tIns="0" rIns="0" bIns="0" rtlCol="0" anchor="t"/>
          <a:lstStyle/>
          <a:p>
            <a:pPr indent="0" marL="0">
              <a:buNone/>
            </a:pPr>
            <a:r>
              <a:rPr lang="en-US" sz="3200" b="1" dirty="0">
                <a:solidFill>
                  <a:srgbClr val="0E2A3B"/>
                </a:solidFill>
                <a:latin typeface="Cambria" pitchFamily="34" charset="0"/>
                <a:ea typeface="Cambria" pitchFamily="34" charset="-122"/>
                <a:cs typeface="Cambria" pitchFamily="34" charset="-120"/>
              </a:rPr>
              <a:t>Was der Agent kann</a:t>
            </a:r>
            <a:endParaRPr lang="en-US" sz="3200" dirty="0"/>
          </a:p>
        </p:txBody>
      </p:sp>
      <p:sp>
        <p:nvSpPr>
          <p:cNvPr id="3" name="Text 1"/>
          <p:cNvSpPr/>
          <p:nvPr/>
        </p:nvSpPr>
        <p:spPr>
          <a:xfrm>
            <a:off x="566928" y="969264"/>
            <a:ext cx="10972800" cy="411480"/>
          </a:xfrm>
          <a:prstGeom prst="rect">
            <a:avLst/>
          </a:prstGeom>
          <a:noFill/>
          <a:ln/>
        </p:spPr>
        <p:txBody>
          <a:bodyPr wrap="square" lIns="0" tIns="0" rIns="0" bIns="0" rtlCol="0" anchor="t"/>
          <a:lstStyle/>
          <a:p>
            <a:pPr indent="0" marL="0">
              <a:buNone/>
            </a:pPr>
            <a:r>
              <a:rPr lang="en-US" sz="1650" dirty="0">
                <a:solidFill>
                  <a:srgbClr val="1C7293"/>
                </a:solidFill>
                <a:latin typeface="Cambria" pitchFamily="34" charset="0"/>
                <a:ea typeface="Cambria" pitchFamily="34" charset="-122"/>
                <a:cs typeface="Cambria" pitchFamily="34" charset="-120"/>
              </a:rPr>
              <a:t>Vier Fähigkeiten — die KI ruft sie selbst auf und arbeitet in nachvollziehbaren Schritten</a:t>
            </a:r>
            <a:endParaRPr lang="en-US" sz="1650" dirty="0"/>
          </a:p>
        </p:txBody>
      </p:sp>
      <p:sp>
        <p:nvSpPr>
          <p:cNvPr id="4" name="Shape 2"/>
          <p:cNvSpPr/>
          <p:nvPr/>
        </p:nvSpPr>
        <p:spPr>
          <a:xfrm>
            <a:off x="548640" y="1463040"/>
            <a:ext cx="11091672" cy="914400"/>
          </a:xfrm>
          <a:prstGeom prst="roundRect">
            <a:avLst>
              <a:gd name="adj" fmla="val 9000"/>
            </a:avLst>
          </a:prstGeom>
          <a:solidFill>
            <a:srgbClr val="0E2A3B"/>
          </a:solidFill>
          <a:ln/>
          <a:effectLst>
            <a:outerShdw sx="100000" sy="100000" kx="0" ky="0" algn="bl" rotWithShape="0" blurRad="114300" dist="38100" dir="2700000">
              <a:srgbClr val="0E2A3B">
                <a:alpha val="13000"/>
              </a:srgbClr>
            </a:outerShdw>
          </a:effectLst>
        </p:spPr>
      </p:sp>
      <p:sp>
        <p:nvSpPr>
          <p:cNvPr id="5" name="Shape 3"/>
          <p:cNvSpPr/>
          <p:nvPr/>
        </p:nvSpPr>
        <p:spPr>
          <a:xfrm>
            <a:off x="1234440" y="1645920"/>
            <a:ext cx="1874520" cy="420624"/>
          </a:xfrm>
          <a:prstGeom prst="roundRect">
            <a:avLst>
              <a:gd name="adj" fmla="val 50000"/>
            </a:avLst>
          </a:prstGeom>
          <a:solidFill>
            <a:srgbClr val="16384C"/>
          </a:solidFill>
          <a:ln/>
        </p:spPr>
      </p:sp>
      <p:sp>
        <p:nvSpPr>
          <p:cNvPr id="6" name="Text 4"/>
          <p:cNvSpPr/>
          <p:nvPr/>
        </p:nvSpPr>
        <p:spPr>
          <a:xfrm>
            <a:off x="1234440" y="1645920"/>
            <a:ext cx="1874520" cy="420624"/>
          </a:xfrm>
          <a:prstGeom prst="rect">
            <a:avLst/>
          </a:prstGeom>
          <a:noFill/>
          <a:ln/>
        </p:spPr>
        <p:txBody>
          <a:bodyPr wrap="square" lIns="0" tIns="0" rIns="0" bIns="0" rtlCol="0" anchor="ctr"/>
          <a:lstStyle/>
          <a:p>
            <a:pPr algn="ctr" indent="0" marL="0">
              <a:buNone/>
            </a:pPr>
            <a:r>
              <a:rPr lang="en-US" sz="1150" dirty="0">
                <a:solidFill>
                  <a:srgbClr val="EAF2F7"/>
                </a:solidFill>
                <a:latin typeface="Calibri" pitchFamily="34" charset="0"/>
                <a:ea typeface="Calibri" pitchFamily="34" charset="-122"/>
                <a:cs typeface="Calibri" pitchFamily="34" charset="-120"/>
              </a:rPr>
              <a:t>Frage verstehen</a:t>
            </a:r>
            <a:endParaRPr lang="en-US" sz="1150" dirty="0"/>
          </a:p>
        </p:txBody>
      </p:sp>
      <p:sp>
        <p:nvSpPr>
          <p:cNvPr id="7" name="Shape 5"/>
          <p:cNvSpPr/>
          <p:nvPr/>
        </p:nvSpPr>
        <p:spPr>
          <a:xfrm>
            <a:off x="3136392" y="1856232"/>
            <a:ext cx="182880" cy="0"/>
          </a:xfrm>
          <a:prstGeom prst="line">
            <a:avLst/>
          </a:prstGeom>
          <a:noFill/>
          <a:ln w="22225">
            <a:solidFill>
              <a:srgbClr val="2EC4B6"/>
            </a:solidFill>
            <a:prstDash val="solid"/>
            <a:tailEnd type="triangle"/>
          </a:ln>
        </p:spPr>
      </p:sp>
      <p:sp>
        <p:nvSpPr>
          <p:cNvPr id="8" name="Shape 6"/>
          <p:cNvSpPr/>
          <p:nvPr/>
        </p:nvSpPr>
        <p:spPr>
          <a:xfrm>
            <a:off x="3346704" y="1645920"/>
            <a:ext cx="1874520" cy="420624"/>
          </a:xfrm>
          <a:prstGeom prst="roundRect">
            <a:avLst>
              <a:gd name="adj" fmla="val 50000"/>
            </a:avLst>
          </a:prstGeom>
          <a:solidFill>
            <a:srgbClr val="16384C"/>
          </a:solidFill>
          <a:ln/>
        </p:spPr>
      </p:sp>
      <p:sp>
        <p:nvSpPr>
          <p:cNvPr id="9" name="Text 7"/>
          <p:cNvSpPr/>
          <p:nvPr/>
        </p:nvSpPr>
        <p:spPr>
          <a:xfrm>
            <a:off x="3346704" y="1645920"/>
            <a:ext cx="1874520" cy="420624"/>
          </a:xfrm>
          <a:prstGeom prst="rect">
            <a:avLst/>
          </a:prstGeom>
          <a:noFill/>
          <a:ln/>
        </p:spPr>
        <p:txBody>
          <a:bodyPr wrap="square" lIns="0" tIns="0" rIns="0" bIns="0" rtlCol="0" anchor="ctr"/>
          <a:lstStyle/>
          <a:p>
            <a:pPr algn="ctr" indent="0" marL="0">
              <a:buNone/>
            </a:pPr>
            <a:r>
              <a:rPr lang="en-US" sz="1150" dirty="0">
                <a:solidFill>
                  <a:srgbClr val="EAF2F7"/>
                </a:solidFill>
                <a:latin typeface="Calibri" pitchFamily="34" charset="0"/>
                <a:ea typeface="Calibri" pitchFamily="34" charset="-122"/>
                <a:cs typeface="Calibri" pitchFamily="34" charset="-120"/>
              </a:rPr>
              <a:t>Werkzeug wählen</a:t>
            </a:r>
            <a:endParaRPr lang="en-US" sz="1150" dirty="0"/>
          </a:p>
        </p:txBody>
      </p:sp>
      <p:sp>
        <p:nvSpPr>
          <p:cNvPr id="10" name="Shape 8"/>
          <p:cNvSpPr/>
          <p:nvPr/>
        </p:nvSpPr>
        <p:spPr>
          <a:xfrm>
            <a:off x="5248656" y="1856232"/>
            <a:ext cx="182880" cy="0"/>
          </a:xfrm>
          <a:prstGeom prst="line">
            <a:avLst/>
          </a:prstGeom>
          <a:noFill/>
          <a:ln w="22225">
            <a:solidFill>
              <a:srgbClr val="2EC4B6"/>
            </a:solidFill>
            <a:prstDash val="solid"/>
            <a:tailEnd type="triangle"/>
          </a:ln>
        </p:spPr>
      </p:sp>
      <p:sp>
        <p:nvSpPr>
          <p:cNvPr id="11" name="Shape 9"/>
          <p:cNvSpPr/>
          <p:nvPr/>
        </p:nvSpPr>
        <p:spPr>
          <a:xfrm>
            <a:off x="5458968" y="1645920"/>
            <a:ext cx="1234440" cy="420624"/>
          </a:xfrm>
          <a:prstGeom prst="roundRect">
            <a:avLst>
              <a:gd name="adj" fmla="val 50000"/>
            </a:avLst>
          </a:prstGeom>
          <a:solidFill>
            <a:srgbClr val="16384C"/>
          </a:solidFill>
          <a:ln/>
        </p:spPr>
      </p:sp>
      <p:sp>
        <p:nvSpPr>
          <p:cNvPr id="12" name="Text 10"/>
          <p:cNvSpPr/>
          <p:nvPr/>
        </p:nvSpPr>
        <p:spPr>
          <a:xfrm>
            <a:off x="5458968" y="1645920"/>
            <a:ext cx="1234440" cy="420624"/>
          </a:xfrm>
          <a:prstGeom prst="rect">
            <a:avLst/>
          </a:prstGeom>
          <a:noFill/>
          <a:ln/>
        </p:spPr>
        <p:txBody>
          <a:bodyPr wrap="square" lIns="0" tIns="0" rIns="0" bIns="0" rtlCol="0" anchor="ctr"/>
          <a:lstStyle/>
          <a:p>
            <a:pPr algn="ctr" indent="0" marL="0">
              <a:buNone/>
            </a:pPr>
            <a:r>
              <a:rPr lang="en-US" sz="1150" dirty="0">
                <a:solidFill>
                  <a:srgbClr val="EAF2F7"/>
                </a:solidFill>
                <a:latin typeface="Calibri" pitchFamily="34" charset="0"/>
                <a:ea typeface="Calibri" pitchFamily="34" charset="-122"/>
                <a:cs typeface="Calibri" pitchFamily="34" charset="-120"/>
              </a:rPr>
              <a:t>ausführen</a:t>
            </a:r>
            <a:endParaRPr lang="en-US" sz="1150" dirty="0"/>
          </a:p>
        </p:txBody>
      </p:sp>
      <p:sp>
        <p:nvSpPr>
          <p:cNvPr id="13" name="Shape 11"/>
          <p:cNvSpPr/>
          <p:nvPr/>
        </p:nvSpPr>
        <p:spPr>
          <a:xfrm>
            <a:off x="6720840" y="1856232"/>
            <a:ext cx="182880" cy="0"/>
          </a:xfrm>
          <a:prstGeom prst="line">
            <a:avLst/>
          </a:prstGeom>
          <a:noFill/>
          <a:ln w="22225">
            <a:solidFill>
              <a:srgbClr val="2EC4B6"/>
            </a:solidFill>
            <a:prstDash val="solid"/>
            <a:tailEnd type="triangle"/>
          </a:ln>
        </p:spPr>
      </p:sp>
      <p:sp>
        <p:nvSpPr>
          <p:cNvPr id="14" name="Shape 12"/>
          <p:cNvSpPr/>
          <p:nvPr/>
        </p:nvSpPr>
        <p:spPr>
          <a:xfrm>
            <a:off x="6931152" y="1645920"/>
            <a:ext cx="1874520" cy="420624"/>
          </a:xfrm>
          <a:prstGeom prst="roundRect">
            <a:avLst>
              <a:gd name="adj" fmla="val 50000"/>
            </a:avLst>
          </a:prstGeom>
          <a:solidFill>
            <a:srgbClr val="16384C"/>
          </a:solidFill>
          <a:ln/>
        </p:spPr>
      </p:sp>
      <p:sp>
        <p:nvSpPr>
          <p:cNvPr id="15" name="Text 13"/>
          <p:cNvSpPr/>
          <p:nvPr/>
        </p:nvSpPr>
        <p:spPr>
          <a:xfrm>
            <a:off x="6931152" y="1645920"/>
            <a:ext cx="1874520" cy="420624"/>
          </a:xfrm>
          <a:prstGeom prst="rect">
            <a:avLst/>
          </a:prstGeom>
          <a:noFill/>
          <a:ln/>
        </p:spPr>
        <p:txBody>
          <a:bodyPr wrap="square" lIns="0" tIns="0" rIns="0" bIns="0" rtlCol="0" anchor="ctr"/>
          <a:lstStyle/>
          <a:p>
            <a:pPr algn="ctr" indent="0" marL="0">
              <a:buNone/>
            </a:pPr>
            <a:r>
              <a:rPr lang="en-US" sz="1150" dirty="0">
                <a:solidFill>
                  <a:srgbClr val="EAF2F7"/>
                </a:solidFill>
                <a:latin typeface="Calibri" pitchFamily="34" charset="0"/>
                <a:ea typeface="Calibri" pitchFamily="34" charset="-122"/>
                <a:cs typeface="Calibri" pitchFamily="34" charset="-120"/>
              </a:rPr>
              <a:t>Ergebnis prüfen</a:t>
            </a:r>
            <a:endParaRPr lang="en-US" sz="1150" dirty="0"/>
          </a:p>
        </p:txBody>
      </p:sp>
      <p:sp>
        <p:nvSpPr>
          <p:cNvPr id="16" name="Shape 14"/>
          <p:cNvSpPr/>
          <p:nvPr/>
        </p:nvSpPr>
        <p:spPr>
          <a:xfrm>
            <a:off x="8833104" y="1856232"/>
            <a:ext cx="182880" cy="0"/>
          </a:xfrm>
          <a:prstGeom prst="line">
            <a:avLst/>
          </a:prstGeom>
          <a:noFill/>
          <a:ln w="22225">
            <a:solidFill>
              <a:srgbClr val="2EC4B6"/>
            </a:solidFill>
            <a:prstDash val="solid"/>
            <a:tailEnd type="triangle"/>
          </a:ln>
        </p:spPr>
      </p:sp>
      <p:sp>
        <p:nvSpPr>
          <p:cNvPr id="17" name="Shape 15"/>
          <p:cNvSpPr/>
          <p:nvPr/>
        </p:nvSpPr>
        <p:spPr>
          <a:xfrm>
            <a:off x="9043416" y="1645920"/>
            <a:ext cx="1874520" cy="420624"/>
          </a:xfrm>
          <a:prstGeom prst="roundRect">
            <a:avLst>
              <a:gd name="adj" fmla="val 50000"/>
            </a:avLst>
          </a:prstGeom>
          <a:solidFill>
            <a:srgbClr val="16384C"/>
          </a:solidFill>
          <a:ln/>
        </p:spPr>
      </p:sp>
      <p:sp>
        <p:nvSpPr>
          <p:cNvPr id="18" name="Text 16"/>
          <p:cNvSpPr/>
          <p:nvPr/>
        </p:nvSpPr>
        <p:spPr>
          <a:xfrm>
            <a:off x="9043416" y="1645920"/>
            <a:ext cx="1874520" cy="420624"/>
          </a:xfrm>
          <a:prstGeom prst="rect">
            <a:avLst/>
          </a:prstGeom>
          <a:noFill/>
          <a:ln/>
        </p:spPr>
        <p:txBody>
          <a:bodyPr wrap="square" lIns="0" tIns="0" rIns="0" bIns="0" rtlCol="0" anchor="ctr"/>
          <a:lstStyle/>
          <a:p>
            <a:pPr algn="ctr" indent="0" marL="0">
              <a:buNone/>
            </a:pPr>
            <a:r>
              <a:rPr lang="en-US" sz="1150" dirty="0">
                <a:solidFill>
                  <a:srgbClr val="EAF2F7"/>
                </a:solidFill>
                <a:latin typeface="Calibri" pitchFamily="34" charset="0"/>
                <a:ea typeface="Calibri" pitchFamily="34" charset="-122"/>
                <a:cs typeface="Calibri" pitchFamily="34" charset="-120"/>
              </a:rPr>
              <a:t>zusammenfassen</a:t>
            </a:r>
            <a:endParaRPr lang="en-US" sz="1150" dirty="0"/>
          </a:p>
        </p:txBody>
      </p:sp>
      <p:sp>
        <p:nvSpPr>
          <p:cNvPr id="19" name="Text 17"/>
          <p:cNvSpPr/>
          <p:nvPr/>
        </p:nvSpPr>
        <p:spPr>
          <a:xfrm>
            <a:off x="548640" y="2084832"/>
            <a:ext cx="11091672" cy="274320"/>
          </a:xfrm>
          <a:prstGeom prst="rect">
            <a:avLst/>
          </a:prstGeom>
          <a:noFill/>
          <a:ln/>
        </p:spPr>
        <p:txBody>
          <a:bodyPr wrap="square" lIns="0" tIns="0" rIns="0" bIns="0" rtlCol="0" anchor="t"/>
          <a:lstStyle/>
          <a:p>
            <a:pPr algn="ctr" indent="0" marL="0">
              <a:buNone/>
            </a:pPr>
            <a:r>
              <a:rPr lang="en-US" sz="1100" i="1" dirty="0">
                <a:solidFill>
                  <a:srgbClr val="9DB6C4"/>
                </a:solidFill>
                <a:latin typeface="Calibri" pitchFamily="34" charset="0"/>
                <a:ea typeface="Calibri" pitchFamily="34" charset="-122"/>
                <a:cs typeface="Calibri" pitchFamily="34" charset="-120"/>
              </a:rPr>
              <a:t>in mehreren Schritten · jeder Schritt im Chat sichtbar · reproduzierbar</a:t>
            </a:r>
            <a:endParaRPr lang="en-US" sz="1100" dirty="0"/>
          </a:p>
        </p:txBody>
      </p:sp>
      <p:sp>
        <p:nvSpPr>
          <p:cNvPr id="20" name="Shape 18"/>
          <p:cNvSpPr/>
          <p:nvPr/>
        </p:nvSpPr>
        <p:spPr>
          <a:xfrm>
            <a:off x="548640" y="2615184"/>
            <a:ext cx="5449824" cy="1627632"/>
          </a:xfrm>
          <a:prstGeom prst="roundRect">
            <a:avLst>
              <a:gd name="adj" fmla="val 5056"/>
            </a:avLst>
          </a:prstGeom>
          <a:solidFill>
            <a:srgbClr val="F2F6F9"/>
          </a:solidFill>
          <a:ln/>
          <a:effectLst>
            <a:outerShdw sx="100000" sy="100000" kx="0" ky="0" algn="bl" rotWithShape="0" blurRad="114300" dist="38100" dir="2700000">
              <a:srgbClr val="0E2A3B">
                <a:alpha val="13000"/>
              </a:srgbClr>
            </a:outerShdw>
          </a:effectLst>
        </p:spPr>
      </p:sp>
      <p:sp>
        <p:nvSpPr>
          <p:cNvPr id="21" name="Shape 19"/>
          <p:cNvSpPr/>
          <p:nvPr/>
        </p:nvSpPr>
        <p:spPr>
          <a:xfrm>
            <a:off x="859536" y="2999232"/>
            <a:ext cx="201168" cy="201168"/>
          </a:xfrm>
          <a:prstGeom prst="ellipse">
            <a:avLst/>
          </a:prstGeom>
          <a:solidFill>
            <a:srgbClr val="2F6DB5"/>
          </a:solidFill>
          <a:ln/>
        </p:spPr>
      </p:sp>
      <p:sp>
        <p:nvSpPr>
          <p:cNvPr id="22" name="Text 20"/>
          <p:cNvSpPr/>
          <p:nvPr/>
        </p:nvSpPr>
        <p:spPr>
          <a:xfrm>
            <a:off x="1188720" y="2871216"/>
            <a:ext cx="4489704" cy="411480"/>
          </a:xfrm>
          <a:prstGeom prst="rect">
            <a:avLst/>
          </a:prstGeom>
          <a:noFill/>
          <a:ln/>
        </p:spPr>
        <p:txBody>
          <a:bodyPr wrap="square" lIns="0" tIns="0" rIns="0" bIns="0" rtlCol="0" anchor="t"/>
          <a:lstStyle/>
          <a:p>
            <a:pPr indent="0" marL="0">
              <a:buNone/>
            </a:pPr>
            <a:r>
              <a:rPr lang="en-US" sz="1700" b="1" dirty="0">
                <a:solidFill>
                  <a:srgbClr val="13293D"/>
                </a:solidFill>
                <a:latin typeface="Cambria" pitchFamily="34" charset="0"/>
                <a:ea typeface="Cambria" pitchFamily="34" charset="-122"/>
                <a:cs typeface="Cambria" pitchFamily="34" charset="-120"/>
              </a:rPr>
              <a:t>Unternehmen finden</a:t>
            </a:r>
            <a:endParaRPr lang="en-US" sz="1700" dirty="0"/>
          </a:p>
        </p:txBody>
      </p:sp>
      <p:sp>
        <p:nvSpPr>
          <p:cNvPr id="23" name="Text 21"/>
          <p:cNvSpPr/>
          <p:nvPr/>
        </p:nvSpPr>
        <p:spPr>
          <a:xfrm>
            <a:off x="877824" y="3401568"/>
            <a:ext cx="4846320" cy="749808"/>
          </a:xfrm>
          <a:prstGeom prst="rect">
            <a:avLst/>
          </a:prstGeom>
          <a:noFill/>
          <a:ln/>
        </p:spPr>
        <p:txBody>
          <a:bodyPr wrap="square" lIns="0" tIns="0" rIns="0" bIns="0" rtlCol="0" anchor="t"/>
          <a:lstStyle/>
          <a:p>
            <a:pPr indent="0" marL="0">
              <a:lnSpc>
                <a:spcPct val="110000"/>
              </a:lnSpc>
              <a:buNone/>
            </a:pPr>
            <a:r>
              <a:rPr lang="en-US" sz="1350" dirty="0">
                <a:solidFill>
                  <a:srgbClr val="5B7385"/>
                </a:solidFill>
                <a:latin typeface="Calibri" pitchFamily="34" charset="0"/>
                <a:ea typeface="Calibri" pitchFamily="34" charset="-122"/>
                <a:cs typeface="Calibri" pitchFamily="34" charset="-120"/>
              </a:rPr>
              <a:t>Aus einer Strategie in Klarsprache passende Aktien filtern — ein klarer Filter, danach gegen die Vorgaben nachgeprüft.</a:t>
            </a:r>
            <a:endParaRPr lang="en-US" sz="1350" dirty="0"/>
          </a:p>
        </p:txBody>
      </p:sp>
      <p:sp>
        <p:nvSpPr>
          <p:cNvPr id="24" name="Shape 22"/>
          <p:cNvSpPr/>
          <p:nvPr/>
        </p:nvSpPr>
        <p:spPr>
          <a:xfrm>
            <a:off x="6190488" y="2615184"/>
            <a:ext cx="5449824" cy="1627632"/>
          </a:xfrm>
          <a:prstGeom prst="roundRect">
            <a:avLst>
              <a:gd name="adj" fmla="val 5056"/>
            </a:avLst>
          </a:prstGeom>
          <a:solidFill>
            <a:srgbClr val="F2F6F9"/>
          </a:solidFill>
          <a:ln/>
          <a:effectLst>
            <a:outerShdw sx="100000" sy="100000" kx="0" ky="0" algn="bl" rotWithShape="0" blurRad="114300" dist="38100" dir="2700000">
              <a:srgbClr val="0E2A3B">
                <a:alpha val="13000"/>
              </a:srgbClr>
            </a:outerShdw>
          </a:effectLst>
        </p:spPr>
      </p:sp>
      <p:sp>
        <p:nvSpPr>
          <p:cNvPr id="25" name="Shape 23"/>
          <p:cNvSpPr/>
          <p:nvPr/>
        </p:nvSpPr>
        <p:spPr>
          <a:xfrm>
            <a:off x="6501384" y="2999232"/>
            <a:ext cx="201168" cy="201168"/>
          </a:xfrm>
          <a:prstGeom prst="ellipse">
            <a:avLst/>
          </a:prstGeom>
          <a:solidFill>
            <a:srgbClr val="D9982B"/>
          </a:solidFill>
          <a:ln/>
        </p:spPr>
      </p:sp>
      <p:sp>
        <p:nvSpPr>
          <p:cNvPr id="26" name="Text 24"/>
          <p:cNvSpPr/>
          <p:nvPr/>
        </p:nvSpPr>
        <p:spPr>
          <a:xfrm>
            <a:off x="6830568" y="2871216"/>
            <a:ext cx="4489704" cy="411480"/>
          </a:xfrm>
          <a:prstGeom prst="rect">
            <a:avLst/>
          </a:prstGeom>
          <a:noFill/>
          <a:ln/>
        </p:spPr>
        <p:txBody>
          <a:bodyPr wrap="square" lIns="0" tIns="0" rIns="0" bIns="0" rtlCol="0" anchor="t"/>
          <a:lstStyle/>
          <a:p>
            <a:pPr indent="0" marL="0">
              <a:buNone/>
            </a:pPr>
            <a:r>
              <a:rPr lang="en-US" sz="1700" b="1" dirty="0">
                <a:solidFill>
                  <a:srgbClr val="13293D"/>
                </a:solidFill>
                <a:latin typeface="Cambria" pitchFamily="34" charset="0"/>
                <a:ea typeface="Cambria" pitchFamily="34" charset="-122"/>
                <a:cs typeface="Cambria" pitchFamily="34" charset="-120"/>
              </a:rPr>
              <a:t>News verstehen &amp; bewerten</a:t>
            </a:r>
            <a:endParaRPr lang="en-US" sz="1700" dirty="0"/>
          </a:p>
        </p:txBody>
      </p:sp>
      <p:sp>
        <p:nvSpPr>
          <p:cNvPr id="27" name="Text 25"/>
          <p:cNvSpPr/>
          <p:nvPr/>
        </p:nvSpPr>
        <p:spPr>
          <a:xfrm>
            <a:off x="6519672" y="3401568"/>
            <a:ext cx="4846320" cy="749808"/>
          </a:xfrm>
          <a:prstGeom prst="rect">
            <a:avLst/>
          </a:prstGeom>
          <a:noFill/>
          <a:ln/>
        </p:spPr>
        <p:txBody>
          <a:bodyPr wrap="square" lIns="0" tIns="0" rIns="0" bIns="0" rtlCol="0" anchor="t"/>
          <a:lstStyle/>
          <a:p>
            <a:pPr indent="0" marL="0">
              <a:lnSpc>
                <a:spcPct val="110000"/>
              </a:lnSpc>
              <a:buNone/>
            </a:pPr>
            <a:r>
              <a:rPr lang="en-US" sz="1350" dirty="0">
                <a:solidFill>
                  <a:srgbClr val="5B7385"/>
                </a:solidFill>
                <a:latin typeface="Calibri" pitchFamily="34" charset="0"/>
                <a:ea typeface="Calibri" pitchFamily="34" charset="-122"/>
                <a:cs typeface="Calibri" pitchFamily="34" charset="-120"/>
              </a:rPr>
              <a:t>Schlagzeilen vorfiltern — dann beurteilt die KI das Kriterium selbst und muss echte Schlagzeilen als Beleg zitieren.</a:t>
            </a:r>
            <a:endParaRPr lang="en-US" sz="1350" dirty="0"/>
          </a:p>
        </p:txBody>
      </p:sp>
      <p:sp>
        <p:nvSpPr>
          <p:cNvPr id="28" name="Shape 26"/>
          <p:cNvSpPr/>
          <p:nvPr/>
        </p:nvSpPr>
        <p:spPr>
          <a:xfrm>
            <a:off x="548640" y="4425696"/>
            <a:ext cx="5449824" cy="1627632"/>
          </a:xfrm>
          <a:prstGeom prst="roundRect">
            <a:avLst>
              <a:gd name="adj" fmla="val 5056"/>
            </a:avLst>
          </a:prstGeom>
          <a:solidFill>
            <a:srgbClr val="F2F6F9"/>
          </a:solidFill>
          <a:ln/>
          <a:effectLst>
            <a:outerShdw sx="100000" sy="100000" kx="0" ky="0" algn="bl" rotWithShape="0" blurRad="114300" dist="38100" dir="2700000">
              <a:srgbClr val="0E2A3B">
                <a:alpha val="13000"/>
              </a:srgbClr>
            </a:outerShdw>
          </a:effectLst>
        </p:spPr>
      </p:sp>
      <p:sp>
        <p:nvSpPr>
          <p:cNvPr id="29" name="Shape 27"/>
          <p:cNvSpPr/>
          <p:nvPr/>
        </p:nvSpPr>
        <p:spPr>
          <a:xfrm>
            <a:off x="859536" y="4809744"/>
            <a:ext cx="201168" cy="201168"/>
          </a:xfrm>
          <a:prstGeom prst="ellipse">
            <a:avLst/>
          </a:prstGeom>
          <a:solidFill>
            <a:srgbClr val="2F6DB5"/>
          </a:solidFill>
          <a:ln/>
        </p:spPr>
      </p:sp>
      <p:sp>
        <p:nvSpPr>
          <p:cNvPr id="30" name="Text 28"/>
          <p:cNvSpPr/>
          <p:nvPr/>
        </p:nvSpPr>
        <p:spPr>
          <a:xfrm>
            <a:off x="1188720" y="4681728"/>
            <a:ext cx="4489704" cy="411480"/>
          </a:xfrm>
          <a:prstGeom prst="rect">
            <a:avLst/>
          </a:prstGeom>
          <a:noFill/>
          <a:ln/>
        </p:spPr>
        <p:txBody>
          <a:bodyPr wrap="square" lIns="0" tIns="0" rIns="0" bIns="0" rtlCol="0" anchor="t"/>
          <a:lstStyle/>
          <a:p>
            <a:pPr indent="0" marL="0">
              <a:buNone/>
            </a:pPr>
            <a:r>
              <a:rPr lang="en-US" sz="1700" b="1" dirty="0">
                <a:solidFill>
                  <a:srgbClr val="13293D"/>
                </a:solidFill>
                <a:latin typeface="Cambria" pitchFamily="34" charset="0"/>
                <a:ea typeface="Cambria" pitchFamily="34" charset="-122"/>
                <a:cs typeface="Cambria" pitchFamily="34" charset="-120"/>
              </a:rPr>
              <a:t>Rechnen &amp; prognostizieren</a:t>
            </a:r>
            <a:endParaRPr lang="en-US" sz="1700" dirty="0"/>
          </a:p>
        </p:txBody>
      </p:sp>
      <p:sp>
        <p:nvSpPr>
          <p:cNvPr id="31" name="Text 29"/>
          <p:cNvSpPr/>
          <p:nvPr/>
        </p:nvSpPr>
        <p:spPr>
          <a:xfrm>
            <a:off x="877824" y="5212080"/>
            <a:ext cx="4846320" cy="749808"/>
          </a:xfrm>
          <a:prstGeom prst="rect">
            <a:avLst/>
          </a:prstGeom>
          <a:noFill/>
          <a:ln/>
        </p:spPr>
        <p:txBody>
          <a:bodyPr wrap="square" lIns="0" tIns="0" rIns="0" bIns="0" rtlCol="0" anchor="t"/>
          <a:lstStyle/>
          <a:p>
            <a:pPr indent="0" marL="0">
              <a:lnSpc>
                <a:spcPct val="110000"/>
              </a:lnSpc>
              <a:buNone/>
            </a:pPr>
            <a:r>
              <a:rPr lang="en-US" sz="1350" dirty="0">
                <a:solidFill>
                  <a:srgbClr val="5B7385"/>
                </a:solidFill>
                <a:latin typeface="Calibri" pitchFamily="34" charset="0"/>
                <a:ea typeface="Calibri" pitchFamily="34" charset="-122"/>
                <a:cs typeface="Calibri" pitchFamily="34" charset="-120"/>
              </a:rPr>
              <a:t>Technischer Trend, eine Zeitreihen-Prognose und ein ML-Signal — alles nachvollziehbare Mathematik.</a:t>
            </a:r>
            <a:endParaRPr lang="en-US" sz="1350" dirty="0"/>
          </a:p>
        </p:txBody>
      </p:sp>
      <p:sp>
        <p:nvSpPr>
          <p:cNvPr id="32" name="Shape 30"/>
          <p:cNvSpPr/>
          <p:nvPr/>
        </p:nvSpPr>
        <p:spPr>
          <a:xfrm>
            <a:off x="6190488" y="4425696"/>
            <a:ext cx="5449824" cy="1627632"/>
          </a:xfrm>
          <a:prstGeom prst="roundRect">
            <a:avLst>
              <a:gd name="adj" fmla="val 5056"/>
            </a:avLst>
          </a:prstGeom>
          <a:solidFill>
            <a:srgbClr val="F2F6F9"/>
          </a:solidFill>
          <a:ln/>
          <a:effectLst>
            <a:outerShdw sx="100000" sy="100000" kx="0" ky="0" algn="bl" rotWithShape="0" blurRad="114300" dist="38100" dir="2700000">
              <a:srgbClr val="0E2A3B">
                <a:alpha val="13000"/>
              </a:srgbClr>
            </a:outerShdw>
          </a:effectLst>
        </p:spPr>
      </p:sp>
      <p:sp>
        <p:nvSpPr>
          <p:cNvPr id="33" name="Shape 31"/>
          <p:cNvSpPr/>
          <p:nvPr/>
        </p:nvSpPr>
        <p:spPr>
          <a:xfrm>
            <a:off x="6501384" y="4809744"/>
            <a:ext cx="201168" cy="201168"/>
          </a:xfrm>
          <a:prstGeom prst="ellipse">
            <a:avLst/>
          </a:prstGeom>
          <a:solidFill>
            <a:srgbClr val="5B7385"/>
          </a:solidFill>
          <a:ln/>
        </p:spPr>
      </p:sp>
      <p:sp>
        <p:nvSpPr>
          <p:cNvPr id="34" name="Text 32"/>
          <p:cNvSpPr/>
          <p:nvPr/>
        </p:nvSpPr>
        <p:spPr>
          <a:xfrm>
            <a:off x="6830568" y="4681728"/>
            <a:ext cx="4489704" cy="411480"/>
          </a:xfrm>
          <a:prstGeom prst="rect">
            <a:avLst/>
          </a:prstGeom>
          <a:noFill/>
          <a:ln/>
        </p:spPr>
        <p:txBody>
          <a:bodyPr wrap="square" lIns="0" tIns="0" rIns="0" bIns="0" rtlCol="0" anchor="t"/>
          <a:lstStyle/>
          <a:p>
            <a:pPr indent="0" marL="0">
              <a:buNone/>
            </a:pPr>
            <a:r>
              <a:rPr lang="en-US" sz="1700" b="1" dirty="0">
                <a:solidFill>
                  <a:srgbClr val="13293D"/>
                </a:solidFill>
                <a:latin typeface="Cambria" pitchFamily="34" charset="0"/>
                <a:ea typeface="Cambria" pitchFamily="34" charset="-122"/>
                <a:cs typeface="Cambria" pitchFamily="34" charset="-120"/>
              </a:rPr>
              <a:t>Daten beschaffen</a:t>
            </a:r>
            <a:endParaRPr lang="en-US" sz="1700" dirty="0"/>
          </a:p>
        </p:txBody>
      </p:sp>
      <p:sp>
        <p:nvSpPr>
          <p:cNvPr id="35" name="Text 33"/>
          <p:cNvSpPr/>
          <p:nvPr/>
        </p:nvSpPr>
        <p:spPr>
          <a:xfrm>
            <a:off x="6519672" y="5212080"/>
            <a:ext cx="4846320" cy="749808"/>
          </a:xfrm>
          <a:prstGeom prst="rect">
            <a:avLst/>
          </a:prstGeom>
          <a:noFill/>
          <a:ln/>
        </p:spPr>
        <p:txBody>
          <a:bodyPr wrap="square" lIns="0" tIns="0" rIns="0" bIns="0" rtlCol="0" anchor="t"/>
          <a:lstStyle/>
          <a:p>
            <a:pPr indent="0" marL="0">
              <a:lnSpc>
                <a:spcPct val="110000"/>
              </a:lnSpc>
              <a:buNone/>
            </a:pPr>
            <a:r>
              <a:rPr lang="en-US" sz="1350" dirty="0">
                <a:solidFill>
                  <a:srgbClr val="5B7385"/>
                </a:solidFill>
                <a:latin typeface="Calibri" pitchFamily="34" charset="0"/>
                <a:ea typeface="Calibri" pitchFamily="34" charset="-122"/>
                <a:cs typeface="Calibri" pitchFamily="34" charset="-120"/>
              </a:rPr>
              <a:t>Kurse, Kennzahlen, News und Portfolio-Kontext — die Grundlage für alle anderen Fähigkeiten.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A3B"/>
        </a:solidFill>
      </p:bgPr>
    </p:bg>
    <p:spTree>
      <p:nvGrpSpPr>
        <p:cNvPr id="1" name=""/>
        <p:cNvGrpSpPr/>
        <p:nvPr/>
      </p:nvGrpSpPr>
      <p:grpSpPr>
        <a:xfrm>
          <a:off x="0" y="0"/>
          <a:ext cx="0" cy="0"/>
          <a:chOff x="0" y="0"/>
          <a:chExt cx="0" cy="0"/>
        </a:xfrm>
      </p:grpSpPr>
      <p:sp>
        <p:nvSpPr>
          <p:cNvPr id="2" name="Text 0"/>
          <p:cNvSpPr/>
          <p:nvPr/>
        </p:nvSpPr>
        <p:spPr>
          <a:xfrm>
            <a:off x="548640" y="384048"/>
            <a:ext cx="1051560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Stärken, Grenzen &amp; Ausblick</a:t>
            </a:r>
            <a:endParaRPr lang="en-US" sz="3200" dirty="0"/>
          </a:p>
        </p:txBody>
      </p:sp>
      <p:sp>
        <p:nvSpPr>
          <p:cNvPr id="3" name="Shape 1"/>
          <p:cNvSpPr/>
          <p:nvPr/>
        </p:nvSpPr>
        <p:spPr>
          <a:xfrm>
            <a:off x="548640" y="1207008"/>
            <a:ext cx="3575304" cy="1024128"/>
          </a:xfrm>
          <a:prstGeom prst="roundRect">
            <a:avLst>
              <a:gd name="adj" fmla="val 8036"/>
            </a:avLst>
          </a:prstGeom>
          <a:solidFill>
            <a:srgbClr val="16384C"/>
          </a:solidFill>
          <a:ln/>
        </p:spPr>
      </p:sp>
      <p:sp>
        <p:nvSpPr>
          <p:cNvPr id="4" name="Text 2"/>
          <p:cNvSpPr/>
          <p:nvPr/>
        </p:nvSpPr>
        <p:spPr>
          <a:xfrm>
            <a:off x="685800" y="1353312"/>
            <a:ext cx="3300984" cy="502920"/>
          </a:xfrm>
          <a:prstGeom prst="rect">
            <a:avLst/>
          </a:prstGeom>
          <a:noFill/>
          <a:ln/>
        </p:spPr>
        <p:txBody>
          <a:bodyPr wrap="square" lIns="0" tIns="0" rIns="0" bIns="0" rtlCol="0" anchor="ctr"/>
          <a:lstStyle/>
          <a:p>
            <a:pPr algn="ctr" indent="0" marL="0">
              <a:buNone/>
            </a:pPr>
            <a:r>
              <a:rPr lang="en-US" sz="3000" b="1" dirty="0">
                <a:solidFill>
                  <a:srgbClr val="2EC4B6"/>
                </a:solidFill>
                <a:latin typeface="Cambria" pitchFamily="34" charset="0"/>
                <a:ea typeface="Cambria" pitchFamily="34" charset="-122"/>
                <a:cs typeface="Cambria" pitchFamily="34" charset="-120"/>
              </a:rPr>
              <a:t>100%</a:t>
            </a:r>
            <a:endParaRPr lang="en-US" sz="3000" dirty="0"/>
          </a:p>
        </p:txBody>
      </p:sp>
      <p:sp>
        <p:nvSpPr>
          <p:cNvPr id="5" name="Text 3"/>
          <p:cNvSpPr/>
          <p:nvPr/>
        </p:nvSpPr>
        <p:spPr>
          <a:xfrm>
            <a:off x="685800" y="1883664"/>
            <a:ext cx="3300984" cy="320040"/>
          </a:xfrm>
          <a:prstGeom prst="rect">
            <a:avLst/>
          </a:prstGeom>
          <a:noFill/>
          <a:ln/>
        </p:spPr>
        <p:txBody>
          <a:bodyPr wrap="square" lIns="0" tIns="0" rIns="0" bIns="0" rtlCol="0" anchor="t"/>
          <a:lstStyle/>
          <a:p>
            <a:pPr algn="ctr" indent="0" marL="0">
              <a:buNone/>
            </a:pPr>
            <a:r>
              <a:rPr lang="en-US" sz="1250" dirty="0">
                <a:solidFill>
                  <a:srgbClr val="9DB6C4"/>
                </a:solidFill>
                <a:latin typeface="Calibri" pitchFamily="34" charset="0"/>
                <a:ea typeface="Calibri" pitchFamily="34" charset="-122"/>
                <a:cs typeface="Calibri" pitchFamily="34" charset="-120"/>
              </a:rPr>
              <a:t>lokal — privat, keine Cloud</a:t>
            </a:r>
            <a:endParaRPr lang="en-US" sz="1250" dirty="0"/>
          </a:p>
        </p:txBody>
      </p:sp>
      <p:sp>
        <p:nvSpPr>
          <p:cNvPr id="6" name="Shape 4"/>
          <p:cNvSpPr/>
          <p:nvPr/>
        </p:nvSpPr>
        <p:spPr>
          <a:xfrm>
            <a:off x="4306824" y="1207008"/>
            <a:ext cx="3575304" cy="1024128"/>
          </a:xfrm>
          <a:prstGeom prst="roundRect">
            <a:avLst>
              <a:gd name="adj" fmla="val 8036"/>
            </a:avLst>
          </a:prstGeom>
          <a:solidFill>
            <a:srgbClr val="16384C"/>
          </a:solidFill>
          <a:ln/>
        </p:spPr>
      </p:sp>
      <p:sp>
        <p:nvSpPr>
          <p:cNvPr id="7" name="Text 5"/>
          <p:cNvSpPr/>
          <p:nvPr/>
        </p:nvSpPr>
        <p:spPr>
          <a:xfrm>
            <a:off x="4443984" y="1353312"/>
            <a:ext cx="3300984" cy="502920"/>
          </a:xfrm>
          <a:prstGeom prst="rect">
            <a:avLst/>
          </a:prstGeom>
          <a:noFill/>
          <a:ln/>
        </p:spPr>
        <p:txBody>
          <a:bodyPr wrap="square" lIns="0" tIns="0" rIns="0" bIns="0" rtlCol="0" anchor="ctr"/>
          <a:lstStyle/>
          <a:p>
            <a:pPr algn="ctr" indent="0" marL="0">
              <a:buNone/>
            </a:pPr>
            <a:r>
              <a:rPr lang="en-US" sz="3000" b="1" dirty="0">
                <a:solidFill>
                  <a:srgbClr val="2EC4B6"/>
                </a:solidFill>
                <a:latin typeface="Cambria" pitchFamily="34" charset="0"/>
                <a:ea typeface="Cambria" pitchFamily="34" charset="-122"/>
                <a:cs typeface="Cambria" pitchFamily="34" charset="-120"/>
              </a:rPr>
              <a:t>0</a:t>
            </a:r>
            <a:endParaRPr lang="en-US" sz="3000" dirty="0"/>
          </a:p>
        </p:txBody>
      </p:sp>
      <p:sp>
        <p:nvSpPr>
          <p:cNvPr id="8" name="Text 6"/>
          <p:cNvSpPr/>
          <p:nvPr/>
        </p:nvSpPr>
        <p:spPr>
          <a:xfrm>
            <a:off x="4443984" y="1883664"/>
            <a:ext cx="3300984" cy="320040"/>
          </a:xfrm>
          <a:prstGeom prst="rect">
            <a:avLst/>
          </a:prstGeom>
          <a:noFill/>
          <a:ln/>
        </p:spPr>
        <p:txBody>
          <a:bodyPr wrap="square" lIns="0" tIns="0" rIns="0" bIns="0" rtlCol="0" anchor="t"/>
          <a:lstStyle/>
          <a:p>
            <a:pPr algn="ctr" indent="0" marL="0">
              <a:buNone/>
            </a:pPr>
            <a:r>
              <a:rPr lang="en-US" sz="1250" dirty="0">
                <a:solidFill>
                  <a:srgbClr val="9DB6C4"/>
                </a:solidFill>
                <a:latin typeface="Calibri" pitchFamily="34" charset="0"/>
                <a:ea typeface="Calibri" pitchFamily="34" charset="-122"/>
                <a:cs typeface="Calibri" pitchFamily="34" charset="-120"/>
              </a:rPr>
              <a:t>erfundene Fakten — nur belegte Urteile</a:t>
            </a:r>
            <a:endParaRPr lang="en-US" sz="1250" dirty="0"/>
          </a:p>
        </p:txBody>
      </p:sp>
      <p:sp>
        <p:nvSpPr>
          <p:cNvPr id="9" name="Shape 7"/>
          <p:cNvSpPr/>
          <p:nvPr/>
        </p:nvSpPr>
        <p:spPr>
          <a:xfrm>
            <a:off x="8065008" y="1207008"/>
            <a:ext cx="3575304" cy="1024128"/>
          </a:xfrm>
          <a:prstGeom prst="roundRect">
            <a:avLst>
              <a:gd name="adj" fmla="val 8036"/>
            </a:avLst>
          </a:prstGeom>
          <a:solidFill>
            <a:srgbClr val="16384C"/>
          </a:solidFill>
          <a:ln/>
        </p:spPr>
      </p:sp>
      <p:sp>
        <p:nvSpPr>
          <p:cNvPr id="10" name="Text 8"/>
          <p:cNvSpPr/>
          <p:nvPr/>
        </p:nvSpPr>
        <p:spPr>
          <a:xfrm>
            <a:off x="8202168" y="1353312"/>
            <a:ext cx="3300984" cy="502920"/>
          </a:xfrm>
          <a:prstGeom prst="rect">
            <a:avLst/>
          </a:prstGeom>
          <a:noFill/>
          <a:ln/>
        </p:spPr>
        <p:txBody>
          <a:bodyPr wrap="square" lIns="0" tIns="0" rIns="0" bIns="0" rtlCol="0" anchor="ctr"/>
          <a:lstStyle/>
          <a:p>
            <a:pPr algn="ctr" indent="0" marL="0">
              <a:buNone/>
            </a:pPr>
            <a:r>
              <a:rPr lang="en-US" sz="2100" b="1" dirty="0">
                <a:solidFill>
                  <a:srgbClr val="2EC4B6"/>
                </a:solidFill>
                <a:latin typeface="Cambria" pitchFamily="34" charset="0"/>
                <a:ea typeface="Cambria" pitchFamily="34" charset="-122"/>
                <a:cs typeface="Cambria" pitchFamily="34" charset="-120"/>
              </a:rPr>
              <a:t>reproduzierbar</a:t>
            </a:r>
            <a:endParaRPr lang="en-US" sz="2100" dirty="0"/>
          </a:p>
        </p:txBody>
      </p:sp>
      <p:sp>
        <p:nvSpPr>
          <p:cNvPr id="11" name="Text 9"/>
          <p:cNvSpPr/>
          <p:nvPr/>
        </p:nvSpPr>
        <p:spPr>
          <a:xfrm>
            <a:off x="8202168" y="1883664"/>
            <a:ext cx="3300984" cy="320040"/>
          </a:xfrm>
          <a:prstGeom prst="rect">
            <a:avLst/>
          </a:prstGeom>
          <a:noFill/>
          <a:ln/>
        </p:spPr>
        <p:txBody>
          <a:bodyPr wrap="square" lIns="0" tIns="0" rIns="0" bIns="0" rtlCol="0" anchor="t"/>
          <a:lstStyle/>
          <a:p>
            <a:pPr algn="ctr" indent="0" marL="0">
              <a:buNone/>
            </a:pPr>
            <a:r>
              <a:rPr lang="en-US" sz="1250" dirty="0">
                <a:solidFill>
                  <a:srgbClr val="9DB6C4"/>
                </a:solidFill>
                <a:latin typeface="Calibri" pitchFamily="34" charset="0"/>
                <a:ea typeface="Calibri" pitchFamily="34" charset="-122"/>
                <a:cs typeface="Calibri" pitchFamily="34" charset="-120"/>
              </a:rPr>
              <a:t>gleiche Frage → gleiche Antwort</a:t>
            </a:r>
            <a:endParaRPr lang="en-US" sz="1250" dirty="0"/>
          </a:p>
        </p:txBody>
      </p:sp>
      <p:sp>
        <p:nvSpPr>
          <p:cNvPr id="12" name="Text 10"/>
          <p:cNvSpPr/>
          <p:nvPr/>
        </p:nvSpPr>
        <p:spPr>
          <a:xfrm>
            <a:off x="548640" y="2505456"/>
            <a:ext cx="5394960" cy="411480"/>
          </a:xfrm>
          <a:prstGeom prst="rect">
            <a:avLst/>
          </a:prstGeom>
          <a:noFill/>
          <a:ln/>
        </p:spPr>
        <p:txBody>
          <a:bodyPr wrap="square" lIns="0" tIns="0" rIns="0" bIns="0" rtlCol="0" anchor="t"/>
          <a:lstStyle/>
          <a:p>
            <a:pPr indent="0" marL="0">
              <a:buNone/>
            </a:pPr>
            <a:r>
              <a:rPr lang="en-US" sz="1900" b="1" dirty="0">
                <a:solidFill>
                  <a:srgbClr val="2EC4B6"/>
                </a:solidFill>
                <a:latin typeface="Cambria" pitchFamily="34" charset="0"/>
                <a:ea typeface="Cambria" pitchFamily="34" charset="-122"/>
                <a:cs typeface="Cambria" pitchFamily="34" charset="-120"/>
              </a:rPr>
              <a:t>Stärken</a:t>
            </a:r>
            <a:endParaRPr lang="en-US" sz="1900" dirty="0"/>
          </a:p>
        </p:txBody>
      </p:sp>
      <p:sp>
        <p:nvSpPr>
          <p:cNvPr id="13" name="Shape 11"/>
          <p:cNvSpPr/>
          <p:nvPr/>
        </p:nvSpPr>
        <p:spPr>
          <a:xfrm>
            <a:off x="603504" y="3054096"/>
            <a:ext cx="146304" cy="146304"/>
          </a:xfrm>
          <a:prstGeom prst="ellipse">
            <a:avLst/>
          </a:prstGeom>
          <a:solidFill>
            <a:srgbClr val="2EC4B6"/>
          </a:solidFill>
          <a:ln/>
        </p:spPr>
      </p:sp>
      <p:sp>
        <p:nvSpPr>
          <p:cNvPr id="14" name="Text 12"/>
          <p:cNvSpPr/>
          <p:nvPr/>
        </p:nvSpPr>
        <p:spPr>
          <a:xfrm>
            <a:off x="868680" y="2926080"/>
            <a:ext cx="5074920" cy="566928"/>
          </a:xfrm>
          <a:prstGeom prst="rect">
            <a:avLst/>
          </a:prstGeom>
          <a:noFill/>
          <a:ln/>
        </p:spPr>
        <p:txBody>
          <a:bodyPr wrap="square" lIns="0" tIns="0" rIns="0" bIns="0" rtlCol="0" anchor="ctr"/>
          <a:lstStyle/>
          <a:p>
            <a:pPr indent="0" marL="0">
              <a:buNone/>
            </a:pPr>
            <a:r>
              <a:rPr lang="en-US" sz="1350" dirty="0">
                <a:solidFill>
                  <a:srgbClr val="EAF2F7"/>
                </a:solidFill>
                <a:latin typeface="Calibri" pitchFamily="34" charset="0"/>
                <a:ea typeface="Calibri" pitchFamily="34" charset="-122"/>
                <a:cs typeface="Calibri" pitchFamily="34" charset="-120"/>
              </a:rPr>
              <a:t>Klare Rechenwege — gleiche Eingabe, gleiches Ergebnis</a:t>
            </a:r>
            <a:endParaRPr lang="en-US" sz="1350" dirty="0"/>
          </a:p>
        </p:txBody>
      </p:sp>
      <p:sp>
        <p:nvSpPr>
          <p:cNvPr id="15" name="Shape 13"/>
          <p:cNvSpPr/>
          <p:nvPr/>
        </p:nvSpPr>
        <p:spPr>
          <a:xfrm>
            <a:off x="603504" y="3657600"/>
            <a:ext cx="146304" cy="146304"/>
          </a:xfrm>
          <a:prstGeom prst="ellipse">
            <a:avLst/>
          </a:prstGeom>
          <a:solidFill>
            <a:srgbClr val="2EC4B6"/>
          </a:solidFill>
          <a:ln/>
        </p:spPr>
      </p:sp>
      <p:sp>
        <p:nvSpPr>
          <p:cNvPr id="16" name="Text 14"/>
          <p:cNvSpPr/>
          <p:nvPr/>
        </p:nvSpPr>
        <p:spPr>
          <a:xfrm>
            <a:off x="868680" y="3529584"/>
            <a:ext cx="5074920" cy="566928"/>
          </a:xfrm>
          <a:prstGeom prst="rect">
            <a:avLst/>
          </a:prstGeom>
          <a:noFill/>
          <a:ln/>
        </p:spPr>
        <p:txBody>
          <a:bodyPr wrap="square" lIns="0" tIns="0" rIns="0" bIns="0" rtlCol="0" anchor="ctr"/>
          <a:lstStyle/>
          <a:p>
            <a:pPr indent="0" marL="0">
              <a:buNone/>
            </a:pPr>
            <a:r>
              <a:rPr lang="en-US" sz="1350" dirty="0">
                <a:solidFill>
                  <a:srgbClr val="EAF2F7"/>
                </a:solidFill>
                <a:latin typeface="Calibri" pitchFamily="34" charset="0"/>
                <a:ea typeface="Calibri" pitchFamily="34" charset="-122"/>
                <a:cs typeface="Calibri" pitchFamily="34" charset="-120"/>
              </a:rPr>
              <a:t>Ehrlich statt Schönrechnen — Prognosen mit ausgewiesener Unsicherheit</a:t>
            </a:r>
            <a:endParaRPr lang="en-US" sz="1350" dirty="0"/>
          </a:p>
        </p:txBody>
      </p:sp>
      <p:sp>
        <p:nvSpPr>
          <p:cNvPr id="17" name="Shape 15"/>
          <p:cNvSpPr/>
          <p:nvPr/>
        </p:nvSpPr>
        <p:spPr>
          <a:xfrm>
            <a:off x="603504" y="4261104"/>
            <a:ext cx="146304" cy="146304"/>
          </a:xfrm>
          <a:prstGeom prst="ellipse">
            <a:avLst/>
          </a:prstGeom>
          <a:solidFill>
            <a:srgbClr val="2EC4B6"/>
          </a:solidFill>
          <a:ln/>
        </p:spPr>
      </p:sp>
      <p:sp>
        <p:nvSpPr>
          <p:cNvPr id="18" name="Text 16"/>
          <p:cNvSpPr/>
          <p:nvPr/>
        </p:nvSpPr>
        <p:spPr>
          <a:xfrm>
            <a:off x="868680" y="4133088"/>
            <a:ext cx="5074920" cy="566928"/>
          </a:xfrm>
          <a:prstGeom prst="rect">
            <a:avLst/>
          </a:prstGeom>
          <a:noFill/>
          <a:ln/>
        </p:spPr>
        <p:txBody>
          <a:bodyPr wrap="square" lIns="0" tIns="0" rIns="0" bIns="0" rtlCol="0" anchor="ctr"/>
          <a:lstStyle/>
          <a:p>
            <a:pPr indent="0" marL="0">
              <a:buNone/>
            </a:pPr>
            <a:r>
              <a:rPr lang="en-US" sz="1350" dirty="0">
                <a:solidFill>
                  <a:srgbClr val="EAF2F7"/>
                </a:solidFill>
                <a:latin typeface="Calibri" pitchFamily="34" charset="0"/>
                <a:ea typeface="Calibri" pitchFamily="34" charset="-122"/>
                <a:cs typeface="Calibri" pitchFamily="34" charset="-120"/>
              </a:rPr>
              <a:t>Urteile nur mit Belegen — die KI zitiert echte Schlagzeilen</a:t>
            </a:r>
            <a:endParaRPr lang="en-US" sz="1350" dirty="0"/>
          </a:p>
        </p:txBody>
      </p:sp>
      <p:sp>
        <p:nvSpPr>
          <p:cNvPr id="19" name="Shape 17"/>
          <p:cNvSpPr/>
          <p:nvPr/>
        </p:nvSpPr>
        <p:spPr>
          <a:xfrm>
            <a:off x="603504" y="4864608"/>
            <a:ext cx="146304" cy="146304"/>
          </a:xfrm>
          <a:prstGeom prst="ellipse">
            <a:avLst/>
          </a:prstGeom>
          <a:solidFill>
            <a:srgbClr val="2EC4B6"/>
          </a:solidFill>
          <a:ln/>
        </p:spPr>
      </p:sp>
      <p:sp>
        <p:nvSpPr>
          <p:cNvPr id="20" name="Text 18"/>
          <p:cNvSpPr/>
          <p:nvPr/>
        </p:nvSpPr>
        <p:spPr>
          <a:xfrm>
            <a:off x="868680" y="4736592"/>
            <a:ext cx="5074920" cy="566928"/>
          </a:xfrm>
          <a:prstGeom prst="rect">
            <a:avLst/>
          </a:prstGeom>
          <a:noFill/>
          <a:ln/>
        </p:spPr>
        <p:txBody>
          <a:bodyPr wrap="square" lIns="0" tIns="0" rIns="0" bIns="0" rtlCol="0" anchor="ctr"/>
          <a:lstStyle/>
          <a:p>
            <a:pPr indent="0" marL="0">
              <a:buNone/>
            </a:pPr>
            <a:r>
              <a:rPr lang="en-US" sz="1350" dirty="0">
                <a:solidFill>
                  <a:srgbClr val="EAF2F7"/>
                </a:solidFill>
                <a:latin typeface="Calibri" pitchFamily="34" charset="0"/>
                <a:ea typeface="Calibri" pitchFamily="34" charset="-122"/>
                <a:cs typeface="Calibri" pitchFamily="34" charset="-120"/>
              </a:rPr>
              <a:t>Lokal &amp; privat — läuft auf dem eigenen Rechner</a:t>
            </a:r>
            <a:endParaRPr lang="en-US" sz="1350" dirty="0"/>
          </a:p>
        </p:txBody>
      </p:sp>
      <p:sp>
        <p:nvSpPr>
          <p:cNvPr id="21" name="Text 19"/>
          <p:cNvSpPr/>
          <p:nvPr/>
        </p:nvSpPr>
        <p:spPr>
          <a:xfrm>
            <a:off x="6217920" y="2505456"/>
            <a:ext cx="5486400" cy="411480"/>
          </a:xfrm>
          <a:prstGeom prst="rect">
            <a:avLst/>
          </a:prstGeom>
          <a:noFill/>
          <a:ln/>
        </p:spPr>
        <p:txBody>
          <a:bodyPr wrap="square" lIns="0" tIns="0" rIns="0" bIns="0" rtlCol="0" anchor="t"/>
          <a:lstStyle/>
          <a:p>
            <a:pPr indent="0" marL="0">
              <a:buNone/>
            </a:pPr>
            <a:r>
              <a:rPr lang="en-US" sz="1900" b="1" dirty="0">
                <a:solidFill>
                  <a:srgbClr val="F0C66B"/>
                </a:solidFill>
                <a:latin typeface="Cambria" pitchFamily="34" charset="0"/>
                <a:ea typeface="Cambria" pitchFamily="34" charset="-122"/>
                <a:cs typeface="Cambria" pitchFamily="34" charset="-120"/>
              </a:rPr>
              <a:t>Grenzen &amp; nächste Schritte</a:t>
            </a:r>
            <a:endParaRPr lang="en-US" sz="1900" dirty="0"/>
          </a:p>
        </p:txBody>
      </p:sp>
      <p:sp>
        <p:nvSpPr>
          <p:cNvPr id="22" name="Shape 20"/>
          <p:cNvSpPr/>
          <p:nvPr/>
        </p:nvSpPr>
        <p:spPr>
          <a:xfrm>
            <a:off x="6272784" y="3054096"/>
            <a:ext cx="146304" cy="146304"/>
          </a:xfrm>
          <a:prstGeom prst="ellipse">
            <a:avLst/>
          </a:prstGeom>
          <a:solidFill>
            <a:srgbClr val="F0C66B"/>
          </a:solidFill>
          <a:ln/>
        </p:spPr>
      </p:sp>
      <p:sp>
        <p:nvSpPr>
          <p:cNvPr id="23" name="Text 21"/>
          <p:cNvSpPr/>
          <p:nvPr/>
        </p:nvSpPr>
        <p:spPr>
          <a:xfrm>
            <a:off x="6537960" y="2926080"/>
            <a:ext cx="5074920" cy="329184"/>
          </a:xfrm>
          <a:prstGeom prst="rect">
            <a:avLst/>
          </a:prstGeom>
          <a:noFill/>
          <a:ln/>
        </p:spPr>
        <p:txBody>
          <a:bodyPr wrap="square" lIns="0" tIns="0" rIns="0" bIns="0" rtlCol="0" anchor="t"/>
          <a:lstStyle/>
          <a:p>
            <a:pPr indent="0" marL="0">
              <a:buNone/>
            </a:pPr>
            <a:r>
              <a:rPr lang="en-US" sz="1350" b="1" dirty="0">
                <a:solidFill>
                  <a:srgbClr val="EAF2F7"/>
                </a:solidFill>
                <a:latin typeface="Calibri" pitchFamily="34" charset="0"/>
                <a:ea typeface="Calibri" pitchFamily="34" charset="-122"/>
                <a:cs typeface="Calibri" pitchFamily="34" charset="-120"/>
              </a:rPr>
              <a:t>Die lokale KI hält Mehrschritt nicht immer durch</a:t>
            </a:r>
            <a:endParaRPr lang="en-US" sz="1350" dirty="0"/>
          </a:p>
        </p:txBody>
      </p:sp>
      <p:sp>
        <p:nvSpPr>
          <p:cNvPr id="24" name="Text 22"/>
          <p:cNvSpPr/>
          <p:nvPr/>
        </p:nvSpPr>
        <p:spPr>
          <a:xfrm>
            <a:off x="6537960" y="3236976"/>
            <a:ext cx="5074920" cy="457200"/>
          </a:xfrm>
          <a:prstGeom prst="rect">
            <a:avLst/>
          </a:prstGeom>
          <a:noFill/>
          <a:ln/>
        </p:spPr>
        <p:txBody>
          <a:bodyPr wrap="square" lIns="0" tIns="0" rIns="0" bIns="0" rtlCol="0" anchor="t"/>
          <a:lstStyle/>
          <a:p>
            <a:pPr indent="0" marL="0">
              <a:lnSpc>
                <a:spcPct val="105000"/>
              </a:lnSpc>
              <a:buNone/>
            </a:pPr>
            <a:r>
              <a:rPr lang="en-US" sz="1200" dirty="0">
                <a:solidFill>
                  <a:srgbClr val="9DB6C4"/>
                </a:solidFill>
                <a:latin typeface="Calibri" pitchFamily="34" charset="0"/>
                <a:ea typeface="Calibri" pitchFamily="34" charset="-122"/>
                <a:cs typeface="Calibri" pitchFamily="34" charset="-120"/>
              </a:rPr>
              <a:t>abgefangen: ein deterministischer Nachfilter + klarere Anweisung an die KI</a:t>
            </a:r>
            <a:endParaRPr lang="en-US" sz="1200" dirty="0"/>
          </a:p>
        </p:txBody>
      </p:sp>
      <p:sp>
        <p:nvSpPr>
          <p:cNvPr id="25" name="Shape 23"/>
          <p:cNvSpPr/>
          <p:nvPr/>
        </p:nvSpPr>
        <p:spPr>
          <a:xfrm>
            <a:off x="6272784" y="3986784"/>
            <a:ext cx="146304" cy="146304"/>
          </a:xfrm>
          <a:prstGeom prst="ellipse">
            <a:avLst/>
          </a:prstGeom>
          <a:solidFill>
            <a:srgbClr val="F0C66B"/>
          </a:solidFill>
          <a:ln/>
        </p:spPr>
      </p:sp>
      <p:sp>
        <p:nvSpPr>
          <p:cNvPr id="26" name="Text 24"/>
          <p:cNvSpPr/>
          <p:nvPr/>
        </p:nvSpPr>
        <p:spPr>
          <a:xfrm>
            <a:off x="6537960" y="3858768"/>
            <a:ext cx="5074920" cy="329184"/>
          </a:xfrm>
          <a:prstGeom prst="rect">
            <a:avLst/>
          </a:prstGeom>
          <a:noFill/>
          <a:ln/>
        </p:spPr>
        <p:txBody>
          <a:bodyPr wrap="square" lIns="0" tIns="0" rIns="0" bIns="0" rtlCol="0" anchor="t"/>
          <a:lstStyle/>
          <a:p>
            <a:pPr indent="0" marL="0">
              <a:buNone/>
            </a:pPr>
            <a:r>
              <a:rPr lang="en-US" sz="1350" b="1" dirty="0">
                <a:solidFill>
                  <a:srgbClr val="EAF2F7"/>
                </a:solidFill>
                <a:latin typeface="Calibri" pitchFamily="34" charset="0"/>
                <a:ea typeface="Calibri" pitchFamily="34" charset="-122"/>
                <a:cs typeface="Calibri" pitchFamily="34" charset="-120"/>
              </a:rPr>
              <a:t>Keine Trading-Performance behauptet</a:t>
            </a:r>
            <a:endParaRPr lang="en-US" sz="1350" dirty="0"/>
          </a:p>
        </p:txBody>
      </p:sp>
      <p:sp>
        <p:nvSpPr>
          <p:cNvPr id="27" name="Text 25"/>
          <p:cNvSpPr/>
          <p:nvPr/>
        </p:nvSpPr>
        <p:spPr>
          <a:xfrm>
            <a:off x="6537960" y="4169664"/>
            <a:ext cx="5074920" cy="457200"/>
          </a:xfrm>
          <a:prstGeom prst="rect">
            <a:avLst/>
          </a:prstGeom>
          <a:noFill/>
          <a:ln/>
        </p:spPr>
        <p:txBody>
          <a:bodyPr wrap="square" lIns="0" tIns="0" rIns="0" bIns="0" rtlCol="0" anchor="t"/>
          <a:lstStyle/>
          <a:p>
            <a:pPr indent="0" marL="0">
              <a:lnSpc>
                <a:spcPct val="105000"/>
              </a:lnSpc>
              <a:buNone/>
            </a:pPr>
            <a:r>
              <a:rPr lang="en-US" sz="1200" dirty="0">
                <a:solidFill>
                  <a:srgbClr val="9DB6C4"/>
                </a:solidFill>
                <a:latin typeface="Calibri" pitchFamily="34" charset="0"/>
                <a:ea typeface="Calibri" pitchFamily="34" charset="-122"/>
                <a:cs typeface="Calibri" pitchFamily="34" charset="-120"/>
              </a:rPr>
              <a:t>bewusste Grenze — wir prüfen Urteils-Qualität, nicht Rendite</a:t>
            </a:r>
            <a:endParaRPr lang="en-US" sz="1200" dirty="0"/>
          </a:p>
        </p:txBody>
      </p:sp>
      <p:sp>
        <p:nvSpPr>
          <p:cNvPr id="28" name="Shape 26"/>
          <p:cNvSpPr/>
          <p:nvPr/>
        </p:nvSpPr>
        <p:spPr>
          <a:xfrm>
            <a:off x="6272784" y="4919472"/>
            <a:ext cx="146304" cy="146304"/>
          </a:xfrm>
          <a:prstGeom prst="ellipse">
            <a:avLst/>
          </a:prstGeom>
          <a:solidFill>
            <a:srgbClr val="F0C66B"/>
          </a:solidFill>
          <a:ln/>
        </p:spPr>
      </p:sp>
      <p:sp>
        <p:nvSpPr>
          <p:cNvPr id="29" name="Text 27"/>
          <p:cNvSpPr/>
          <p:nvPr/>
        </p:nvSpPr>
        <p:spPr>
          <a:xfrm>
            <a:off x="6537960" y="4791456"/>
            <a:ext cx="5074920" cy="329184"/>
          </a:xfrm>
          <a:prstGeom prst="rect">
            <a:avLst/>
          </a:prstGeom>
          <a:noFill/>
          <a:ln/>
        </p:spPr>
        <p:txBody>
          <a:bodyPr wrap="square" lIns="0" tIns="0" rIns="0" bIns="0" rtlCol="0" anchor="t"/>
          <a:lstStyle/>
          <a:p>
            <a:pPr indent="0" marL="0">
              <a:buNone/>
            </a:pPr>
            <a:r>
              <a:rPr lang="en-US" sz="1350" b="1" dirty="0">
                <a:solidFill>
                  <a:srgbClr val="EAF2F7"/>
                </a:solidFill>
                <a:latin typeface="Calibri" pitchFamily="34" charset="0"/>
                <a:ea typeface="Calibri" pitchFamily="34" charset="-122"/>
                <a:cs typeface="Calibri" pitchFamily="34" charset="-120"/>
              </a:rPr>
              <a:t>Nächste Schritte</a:t>
            </a:r>
            <a:endParaRPr lang="en-US" sz="1350" dirty="0"/>
          </a:p>
        </p:txBody>
      </p:sp>
      <p:sp>
        <p:nvSpPr>
          <p:cNvPr id="30" name="Text 28"/>
          <p:cNvSpPr/>
          <p:nvPr/>
        </p:nvSpPr>
        <p:spPr>
          <a:xfrm>
            <a:off x="6537960" y="5102352"/>
            <a:ext cx="5074920" cy="457200"/>
          </a:xfrm>
          <a:prstGeom prst="rect">
            <a:avLst/>
          </a:prstGeom>
          <a:noFill/>
          <a:ln/>
        </p:spPr>
        <p:txBody>
          <a:bodyPr wrap="square" lIns="0" tIns="0" rIns="0" bIns="0" rtlCol="0" anchor="t"/>
          <a:lstStyle/>
          <a:p>
            <a:pPr indent="0" marL="0">
              <a:lnSpc>
                <a:spcPct val="105000"/>
              </a:lnSpc>
              <a:buNone/>
            </a:pPr>
            <a:r>
              <a:rPr lang="en-US" sz="1200" dirty="0">
                <a:solidFill>
                  <a:srgbClr val="9DB6C4"/>
                </a:solidFill>
                <a:latin typeface="Calibri" pitchFamily="34" charset="0"/>
                <a:ea typeface="Calibri" pitchFamily="34" charset="-122"/>
                <a:cs typeface="Calibri" pitchFamily="34" charset="-120"/>
              </a:rPr>
              <a:t>bessere Prognosemodelle · breitere Tests · noch zuverlässigeres Verketten der Schritte</a:t>
            </a:r>
            <a:endParaRPr lang="en-US" sz="1200" dirty="0"/>
          </a:p>
        </p:txBody>
      </p:sp>
      <p:sp>
        <p:nvSpPr>
          <p:cNvPr id="31" name="Shape 29"/>
          <p:cNvSpPr/>
          <p:nvPr/>
        </p:nvSpPr>
        <p:spPr>
          <a:xfrm>
            <a:off x="548640" y="6053328"/>
            <a:ext cx="11091672" cy="603504"/>
          </a:xfrm>
          <a:prstGeom prst="roundRect">
            <a:avLst>
              <a:gd name="adj" fmla="val 13636"/>
            </a:avLst>
          </a:prstGeom>
          <a:solidFill>
            <a:srgbClr val="16384C"/>
          </a:solidFill>
          <a:ln/>
        </p:spPr>
      </p:sp>
      <p:sp>
        <p:nvSpPr>
          <p:cNvPr id="32" name="Text 30"/>
          <p:cNvSpPr/>
          <p:nvPr/>
        </p:nvSpPr>
        <p:spPr>
          <a:xfrm>
            <a:off x="822960" y="6053328"/>
            <a:ext cx="10515600" cy="603504"/>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Demo-Satz:  </a:t>
            </a:r>
            <a:pPr indent="0" marL="0">
              <a:buNone/>
            </a:pPr>
            <a:r>
              <a:rPr lang="en-US" sz="1400" dirty="0">
                <a:solidFill>
                  <a:srgbClr val="EAF2F7"/>
                </a:solidFill>
                <a:latin typeface="Calibri" pitchFamily="34" charset="0"/>
                <a:ea typeface="Calibri" pitchFamily="34" charset="-122"/>
                <a:cs typeface="Calibri" pitchFamily="34" charset="-120"/>
              </a:rPr>
              <a:t>Eine Frage in Klarsprache — die KI wählt den Weg, zeigt jeden Schritt, und die Zahlen bleiben reproduzierbar.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PortfAIo — Live-Demo</dc:title>
  <dc:subject>PptxGenJS Presentation</dc:subject>
  <dc:creator>PortfAIo Team</dc:creator>
  <cp:lastModifiedBy>PortfAIo Team</cp:lastModifiedBy>
  <cp:revision>1</cp:revision>
  <dcterms:created xsi:type="dcterms:W3CDTF">2026-06-16T01:24:31Z</dcterms:created>
  <dcterms:modified xsi:type="dcterms:W3CDTF">2026-06-16T01:24:31Z</dcterms:modified>
</cp:coreProperties>
</file>